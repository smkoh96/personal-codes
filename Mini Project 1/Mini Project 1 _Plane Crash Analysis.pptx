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5" r:id="rId10"/>
    <p:sldId id="264" r:id="rId11"/>
    <p:sldId id="263" r:id="rId12"/>
    <p:sldId id="274" r:id="rId13"/>
    <p:sldId id="266" r:id="rId14"/>
    <p:sldId id="268" r:id="rId15"/>
    <p:sldId id="270" r:id="rId16"/>
    <p:sldId id="269" r:id="rId17"/>
    <p:sldId id="267" r:id="rId18"/>
    <p:sldId id="271" r:id="rId19"/>
    <p:sldId id="272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6A43CB-C217-4224-A586-0D0048769C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C351B6A-B8F2-466D-A204-B58A0E1478BD}">
      <dgm:prSet/>
      <dgm:spPr/>
      <dgm:t>
        <a:bodyPr/>
        <a:lstStyle/>
        <a:p>
          <a:r>
            <a:rPr lang="en-SG"/>
            <a:t>Introduce Dataset and its features</a:t>
          </a:r>
          <a:endParaRPr lang="en-US"/>
        </a:p>
      </dgm:t>
    </dgm:pt>
    <dgm:pt modelId="{70A46777-380D-4F75-A40E-3728A1F3FB50}" type="parTrans" cxnId="{C94690C4-B440-4046-9895-7545B94E60A1}">
      <dgm:prSet/>
      <dgm:spPr/>
      <dgm:t>
        <a:bodyPr/>
        <a:lstStyle/>
        <a:p>
          <a:endParaRPr lang="en-US"/>
        </a:p>
      </dgm:t>
    </dgm:pt>
    <dgm:pt modelId="{EF94C8B8-3061-4376-B71D-3309BC2F84FF}" type="sibTrans" cxnId="{C94690C4-B440-4046-9895-7545B94E60A1}">
      <dgm:prSet/>
      <dgm:spPr/>
      <dgm:t>
        <a:bodyPr/>
        <a:lstStyle/>
        <a:p>
          <a:endParaRPr lang="en-US"/>
        </a:p>
      </dgm:t>
    </dgm:pt>
    <dgm:pt modelId="{EC1E8AB0-387E-4440-AC56-D900C251A116}">
      <dgm:prSet/>
      <dgm:spPr/>
      <dgm:t>
        <a:bodyPr/>
        <a:lstStyle/>
        <a:p>
          <a:r>
            <a:rPr lang="en-SG"/>
            <a:t>Data Cleaning &amp; Feature Engineering</a:t>
          </a:r>
          <a:endParaRPr lang="en-US"/>
        </a:p>
      </dgm:t>
    </dgm:pt>
    <dgm:pt modelId="{D9442CA8-06D6-4C31-A511-FA8263E9D933}" type="parTrans" cxnId="{D1F11F9C-E3B7-46B7-9F42-D8691D29DCE1}">
      <dgm:prSet/>
      <dgm:spPr/>
      <dgm:t>
        <a:bodyPr/>
        <a:lstStyle/>
        <a:p>
          <a:endParaRPr lang="en-US"/>
        </a:p>
      </dgm:t>
    </dgm:pt>
    <dgm:pt modelId="{7D992DCC-1616-4C59-BD03-3985B8A3449D}" type="sibTrans" cxnId="{D1F11F9C-E3B7-46B7-9F42-D8691D29DCE1}">
      <dgm:prSet/>
      <dgm:spPr/>
      <dgm:t>
        <a:bodyPr/>
        <a:lstStyle/>
        <a:p>
          <a:endParaRPr lang="en-US"/>
        </a:p>
      </dgm:t>
    </dgm:pt>
    <dgm:pt modelId="{50FB78CB-9693-4D77-A7E7-9D8D0647EE14}">
      <dgm:prSet/>
      <dgm:spPr/>
      <dgm:t>
        <a:bodyPr/>
        <a:lstStyle/>
        <a:p>
          <a:r>
            <a:rPr lang="en-SG"/>
            <a:t>Data Visualisation and inference </a:t>
          </a:r>
          <a:endParaRPr lang="en-US"/>
        </a:p>
      </dgm:t>
    </dgm:pt>
    <dgm:pt modelId="{A8A19806-90E1-4331-B9F0-0B561F0205B9}" type="parTrans" cxnId="{68272EDD-107F-4B3F-A73D-22AA67BF70E6}">
      <dgm:prSet/>
      <dgm:spPr/>
      <dgm:t>
        <a:bodyPr/>
        <a:lstStyle/>
        <a:p>
          <a:endParaRPr lang="en-US"/>
        </a:p>
      </dgm:t>
    </dgm:pt>
    <dgm:pt modelId="{B965273E-A88F-456E-A700-2AC6DBBA37C5}" type="sibTrans" cxnId="{68272EDD-107F-4B3F-A73D-22AA67BF70E6}">
      <dgm:prSet/>
      <dgm:spPr/>
      <dgm:t>
        <a:bodyPr/>
        <a:lstStyle/>
        <a:p>
          <a:endParaRPr lang="en-US"/>
        </a:p>
      </dgm:t>
    </dgm:pt>
    <dgm:pt modelId="{D17B6CEE-98FB-44ED-8CAB-7DD0D2110932}">
      <dgm:prSet/>
      <dgm:spPr/>
      <dgm:t>
        <a:bodyPr/>
        <a:lstStyle/>
        <a:p>
          <a:r>
            <a:rPr lang="en-SG"/>
            <a:t>Future Recommendation</a:t>
          </a:r>
          <a:endParaRPr lang="en-US"/>
        </a:p>
      </dgm:t>
    </dgm:pt>
    <dgm:pt modelId="{1D82C5AA-D661-4A23-B638-5B40F4A56F79}" type="parTrans" cxnId="{49843C52-3142-4F4D-B02D-7B1419D611C7}">
      <dgm:prSet/>
      <dgm:spPr/>
      <dgm:t>
        <a:bodyPr/>
        <a:lstStyle/>
        <a:p>
          <a:endParaRPr lang="en-US"/>
        </a:p>
      </dgm:t>
    </dgm:pt>
    <dgm:pt modelId="{A1941F00-5E12-420A-BE37-017CC185795B}" type="sibTrans" cxnId="{49843C52-3142-4F4D-B02D-7B1419D611C7}">
      <dgm:prSet/>
      <dgm:spPr/>
      <dgm:t>
        <a:bodyPr/>
        <a:lstStyle/>
        <a:p>
          <a:endParaRPr lang="en-US"/>
        </a:p>
      </dgm:t>
    </dgm:pt>
    <dgm:pt modelId="{693E24BA-99AD-49C5-93A9-C3DDA9693E45}" type="pres">
      <dgm:prSet presAssocID="{F16A43CB-C217-4224-A586-0D0048769C59}" presName="root" presStyleCnt="0">
        <dgm:presLayoutVars>
          <dgm:dir/>
          <dgm:resizeHandles val="exact"/>
        </dgm:presLayoutVars>
      </dgm:prSet>
      <dgm:spPr/>
    </dgm:pt>
    <dgm:pt modelId="{6B117731-21B9-4877-B640-C1F80042E94B}" type="pres">
      <dgm:prSet presAssocID="{7C351B6A-B8F2-466D-A204-B58A0E1478BD}" presName="compNode" presStyleCnt="0"/>
      <dgm:spPr/>
    </dgm:pt>
    <dgm:pt modelId="{4202B7EB-8355-44DF-992F-825BBEB2C49C}" type="pres">
      <dgm:prSet presAssocID="{7C351B6A-B8F2-466D-A204-B58A0E1478BD}" presName="bgRect" presStyleLbl="bgShp" presStyleIdx="0" presStyleCnt="4"/>
      <dgm:spPr/>
    </dgm:pt>
    <dgm:pt modelId="{6798523D-2182-4C10-85FC-622397A31507}" type="pres">
      <dgm:prSet presAssocID="{7C351B6A-B8F2-466D-A204-B58A0E1478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9EC38EE-48D5-4420-A6B0-B304F2C8F6C5}" type="pres">
      <dgm:prSet presAssocID="{7C351B6A-B8F2-466D-A204-B58A0E1478BD}" presName="spaceRect" presStyleCnt="0"/>
      <dgm:spPr/>
    </dgm:pt>
    <dgm:pt modelId="{CA77DD0A-2EED-4648-B1EC-87E02B67A568}" type="pres">
      <dgm:prSet presAssocID="{7C351B6A-B8F2-466D-A204-B58A0E1478BD}" presName="parTx" presStyleLbl="revTx" presStyleIdx="0" presStyleCnt="4">
        <dgm:presLayoutVars>
          <dgm:chMax val="0"/>
          <dgm:chPref val="0"/>
        </dgm:presLayoutVars>
      </dgm:prSet>
      <dgm:spPr/>
    </dgm:pt>
    <dgm:pt modelId="{83E86189-29CA-4B12-966B-E058A4500B34}" type="pres">
      <dgm:prSet presAssocID="{EF94C8B8-3061-4376-B71D-3309BC2F84FF}" presName="sibTrans" presStyleCnt="0"/>
      <dgm:spPr/>
    </dgm:pt>
    <dgm:pt modelId="{B5B84209-D631-4A3B-9655-82CEC0049D02}" type="pres">
      <dgm:prSet presAssocID="{EC1E8AB0-387E-4440-AC56-D900C251A116}" presName="compNode" presStyleCnt="0"/>
      <dgm:spPr/>
    </dgm:pt>
    <dgm:pt modelId="{B72C0083-1EAE-475D-90E8-9478A9A6D2D4}" type="pres">
      <dgm:prSet presAssocID="{EC1E8AB0-387E-4440-AC56-D900C251A116}" presName="bgRect" presStyleLbl="bgShp" presStyleIdx="1" presStyleCnt="4"/>
      <dgm:spPr/>
    </dgm:pt>
    <dgm:pt modelId="{5292CCB2-614A-4441-BB47-FAF3752FD0D3}" type="pres">
      <dgm:prSet presAssocID="{EC1E8AB0-387E-4440-AC56-D900C251A1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E94EE0C7-7498-4AB2-8FB6-C06EDB5EF93A}" type="pres">
      <dgm:prSet presAssocID="{EC1E8AB0-387E-4440-AC56-D900C251A116}" presName="spaceRect" presStyleCnt="0"/>
      <dgm:spPr/>
    </dgm:pt>
    <dgm:pt modelId="{DAD965A6-8CA7-480E-B5B1-F9E8F3CE8A0C}" type="pres">
      <dgm:prSet presAssocID="{EC1E8AB0-387E-4440-AC56-D900C251A116}" presName="parTx" presStyleLbl="revTx" presStyleIdx="1" presStyleCnt="4">
        <dgm:presLayoutVars>
          <dgm:chMax val="0"/>
          <dgm:chPref val="0"/>
        </dgm:presLayoutVars>
      </dgm:prSet>
      <dgm:spPr/>
    </dgm:pt>
    <dgm:pt modelId="{00C5CEF6-7F91-4320-AAF2-E742F4F89F18}" type="pres">
      <dgm:prSet presAssocID="{7D992DCC-1616-4C59-BD03-3985B8A3449D}" presName="sibTrans" presStyleCnt="0"/>
      <dgm:spPr/>
    </dgm:pt>
    <dgm:pt modelId="{F37141A3-278D-497E-80FF-B558DDF501BC}" type="pres">
      <dgm:prSet presAssocID="{50FB78CB-9693-4D77-A7E7-9D8D0647EE14}" presName="compNode" presStyleCnt="0"/>
      <dgm:spPr/>
    </dgm:pt>
    <dgm:pt modelId="{9766B9C8-C601-40E6-A4FC-0ED57CFAEEC6}" type="pres">
      <dgm:prSet presAssocID="{50FB78CB-9693-4D77-A7E7-9D8D0647EE14}" presName="bgRect" presStyleLbl="bgShp" presStyleIdx="2" presStyleCnt="4"/>
      <dgm:spPr/>
    </dgm:pt>
    <dgm:pt modelId="{66E8CE61-C5E9-40CA-A200-EF97DDCA6270}" type="pres">
      <dgm:prSet presAssocID="{50FB78CB-9693-4D77-A7E7-9D8D0647EE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A2AF182-0EE3-4416-9300-2053E3AF9E40}" type="pres">
      <dgm:prSet presAssocID="{50FB78CB-9693-4D77-A7E7-9D8D0647EE14}" presName="spaceRect" presStyleCnt="0"/>
      <dgm:spPr/>
    </dgm:pt>
    <dgm:pt modelId="{8EC08FB3-A5A9-4997-A053-2FE8BF35179C}" type="pres">
      <dgm:prSet presAssocID="{50FB78CB-9693-4D77-A7E7-9D8D0647EE14}" presName="parTx" presStyleLbl="revTx" presStyleIdx="2" presStyleCnt="4">
        <dgm:presLayoutVars>
          <dgm:chMax val="0"/>
          <dgm:chPref val="0"/>
        </dgm:presLayoutVars>
      </dgm:prSet>
      <dgm:spPr/>
    </dgm:pt>
    <dgm:pt modelId="{72902845-5FD7-4E8B-9D1D-80D8D8777270}" type="pres">
      <dgm:prSet presAssocID="{B965273E-A88F-456E-A700-2AC6DBBA37C5}" presName="sibTrans" presStyleCnt="0"/>
      <dgm:spPr/>
    </dgm:pt>
    <dgm:pt modelId="{4B2F0EF9-236C-4929-8941-392EC31B9520}" type="pres">
      <dgm:prSet presAssocID="{D17B6CEE-98FB-44ED-8CAB-7DD0D2110932}" presName="compNode" presStyleCnt="0"/>
      <dgm:spPr/>
    </dgm:pt>
    <dgm:pt modelId="{D2114B3B-C173-4C91-AD4A-48B6BBC7A370}" type="pres">
      <dgm:prSet presAssocID="{D17B6CEE-98FB-44ED-8CAB-7DD0D2110932}" presName="bgRect" presStyleLbl="bgShp" presStyleIdx="3" presStyleCnt="4"/>
      <dgm:spPr/>
    </dgm:pt>
    <dgm:pt modelId="{A2DD436E-1F28-4629-B6D6-1B66626473C7}" type="pres">
      <dgm:prSet presAssocID="{D17B6CEE-98FB-44ED-8CAB-7DD0D21109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9AA241F-473E-4EFA-991D-64366DD6B980}" type="pres">
      <dgm:prSet presAssocID="{D17B6CEE-98FB-44ED-8CAB-7DD0D2110932}" presName="spaceRect" presStyleCnt="0"/>
      <dgm:spPr/>
    </dgm:pt>
    <dgm:pt modelId="{5A4AC8D5-68AC-454D-A57F-452B9BB4F4A3}" type="pres">
      <dgm:prSet presAssocID="{D17B6CEE-98FB-44ED-8CAB-7DD0D21109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95FAB00-B9EF-47CF-AC1B-7CFFB319A95B}" type="presOf" srcId="{7C351B6A-B8F2-466D-A204-B58A0E1478BD}" destId="{CA77DD0A-2EED-4648-B1EC-87E02B67A568}" srcOrd="0" destOrd="0" presId="urn:microsoft.com/office/officeart/2018/2/layout/IconVerticalSolidList"/>
    <dgm:cxn modelId="{A4DF3D1C-FD95-4F2B-BAE1-0B4AB0F94CF1}" type="presOf" srcId="{F16A43CB-C217-4224-A586-0D0048769C59}" destId="{693E24BA-99AD-49C5-93A9-C3DDA9693E45}" srcOrd="0" destOrd="0" presId="urn:microsoft.com/office/officeart/2018/2/layout/IconVerticalSolidList"/>
    <dgm:cxn modelId="{7544DB68-3728-4BE9-BA92-1101608FD10C}" type="presOf" srcId="{D17B6CEE-98FB-44ED-8CAB-7DD0D2110932}" destId="{5A4AC8D5-68AC-454D-A57F-452B9BB4F4A3}" srcOrd="0" destOrd="0" presId="urn:microsoft.com/office/officeart/2018/2/layout/IconVerticalSolidList"/>
    <dgm:cxn modelId="{9B107B4A-292A-4289-A9C3-16E8BA8F5AD4}" type="presOf" srcId="{EC1E8AB0-387E-4440-AC56-D900C251A116}" destId="{DAD965A6-8CA7-480E-B5B1-F9E8F3CE8A0C}" srcOrd="0" destOrd="0" presId="urn:microsoft.com/office/officeart/2018/2/layout/IconVerticalSolidList"/>
    <dgm:cxn modelId="{49843C52-3142-4F4D-B02D-7B1419D611C7}" srcId="{F16A43CB-C217-4224-A586-0D0048769C59}" destId="{D17B6CEE-98FB-44ED-8CAB-7DD0D2110932}" srcOrd="3" destOrd="0" parTransId="{1D82C5AA-D661-4A23-B638-5B40F4A56F79}" sibTransId="{A1941F00-5E12-420A-BE37-017CC185795B}"/>
    <dgm:cxn modelId="{D1F11F9C-E3B7-46B7-9F42-D8691D29DCE1}" srcId="{F16A43CB-C217-4224-A586-0D0048769C59}" destId="{EC1E8AB0-387E-4440-AC56-D900C251A116}" srcOrd="1" destOrd="0" parTransId="{D9442CA8-06D6-4C31-A511-FA8263E9D933}" sibTransId="{7D992DCC-1616-4C59-BD03-3985B8A3449D}"/>
    <dgm:cxn modelId="{C94690C4-B440-4046-9895-7545B94E60A1}" srcId="{F16A43CB-C217-4224-A586-0D0048769C59}" destId="{7C351B6A-B8F2-466D-A204-B58A0E1478BD}" srcOrd="0" destOrd="0" parTransId="{70A46777-380D-4F75-A40E-3728A1F3FB50}" sibTransId="{EF94C8B8-3061-4376-B71D-3309BC2F84FF}"/>
    <dgm:cxn modelId="{58E1F6D2-2A57-4ADF-B0DE-C4D2DBC7452B}" type="presOf" srcId="{50FB78CB-9693-4D77-A7E7-9D8D0647EE14}" destId="{8EC08FB3-A5A9-4997-A053-2FE8BF35179C}" srcOrd="0" destOrd="0" presId="urn:microsoft.com/office/officeart/2018/2/layout/IconVerticalSolidList"/>
    <dgm:cxn modelId="{68272EDD-107F-4B3F-A73D-22AA67BF70E6}" srcId="{F16A43CB-C217-4224-A586-0D0048769C59}" destId="{50FB78CB-9693-4D77-A7E7-9D8D0647EE14}" srcOrd="2" destOrd="0" parTransId="{A8A19806-90E1-4331-B9F0-0B561F0205B9}" sibTransId="{B965273E-A88F-456E-A700-2AC6DBBA37C5}"/>
    <dgm:cxn modelId="{B86E4449-66E0-4E71-8CD1-03FC56FC2EFB}" type="presParOf" srcId="{693E24BA-99AD-49C5-93A9-C3DDA9693E45}" destId="{6B117731-21B9-4877-B640-C1F80042E94B}" srcOrd="0" destOrd="0" presId="urn:microsoft.com/office/officeart/2018/2/layout/IconVerticalSolidList"/>
    <dgm:cxn modelId="{7F60DB0E-DD6E-421F-9C1A-2DF43D626F77}" type="presParOf" srcId="{6B117731-21B9-4877-B640-C1F80042E94B}" destId="{4202B7EB-8355-44DF-992F-825BBEB2C49C}" srcOrd="0" destOrd="0" presId="urn:microsoft.com/office/officeart/2018/2/layout/IconVerticalSolidList"/>
    <dgm:cxn modelId="{4219DED2-AC36-4C45-975F-34D42766FC38}" type="presParOf" srcId="{6B117731-21B9-4877-B640-C1F80042E94B}" destId="{6798523D-2182-4C10-85FC-622397A31507}" srcOrd="1" destOrd="0" presId="urn:microsoft.com/office/officeart/2018/2/layout/IconVerticalSolidList"/>
    <dgm:cxn modelId="{61A954BF-2BC9-4005-A548-83500E0CC1AF}" type="presParOf" srcId="{6B117731-21B9-4877-B640-C1F80042E94B}" destId="{D9EC38EE-48D5-4420-A6B0-B304F2C8F6C5}" srcOrd="2" destOrd="0" presId="urn:microsoft.com/office/officeart/2018/2/layout/IconVerticalSolidList"/>
    <dgm:cxn modelId="{D2BB6167-10FB-40EC-AD04-351A2002DF3F}" type="presParOf" srcId="{6B117731-21B9-4877-B640-C1F80042E94B}" destId="{CA77DD0A-2EED-4648-B1EC-87E02B67A568}" srcOrd="3" destOrd="0" presId="urn:microsoft.com/office/officeart/2018/2/layout/IconVerticalSolidList"/>
    <dgm:cxn modelId="{45146941-760C-4ACF-A3EA-29AE6FCE948B}" type="presParOf" srcId="{693E24BA-99AD-49C5-93A9-C3DDA9693E45}" destId="{83E86189-29CA-4B12-966B-E058A4500B34}" srcOrd="1" destOrd="0" presId="urn:microsoft.com/office/officeart/2018/2/layout/IconVerticalSolidList"/>
    <dgm:cxn modelId="{ADAAF557-C2F0-4CDC-B729-04CAF248DE7C}" type="presParOf" srcId="{693E24BA-99AD-49C5-93A9-C3DDA9693E45}" destId="{B5B84209-D631-4A3B-9655-82CEC0049D02}" srcOrd="2" destOrd="0" presId="urn:microsoft.com/office/officeart/2018/2/layout/IconVerticalSolidList"/>
    <dgm:cxn modelId="{9DA280C0-599A-4CFA-8700-F1DD9FF99037}" type="presParOf" srcId="{B5B84209-D631-4A3B-9655-82CEC0049D02}" destId="{B72C0083-1EAE-475D-90E8-9478A9A6D2D4}" srcOrd="0" destOrd="0" presId="urn:microsoft.com/office/officeart/2018/2/layout/IconVerticalSolidList"/>
    <dgm:cxn modelId="{B5C637E5-4FEC-4426-95A0-2F3A1C1DF53F}" type="presParOf" srcId="{B5B84209-D631-4A3B-9655-82CEC0049D02}" destId="{5292CCB2-614A-4441-BB47-FAF3752FD0D3}" srcOrd="1" destOrd="0" presId="urn:microsoft.com/office/officeart/2018/2/layout/IconVerticalSolidList"/>
    <dgm:cxn modelId="{5759A25E-8788-43B4-B367-ABAB793E03B1}" type="presParOf" srcId="{B5B84209-D631-4A3B-9655-82CEC0049D02}" destId="{E94EE0C7-7498-4AB2-8FB6-C06EDB5EF93A}" srcOrd="2" destOrd="0" presId="urn:microsoft.com/office/officeart/2018/2/layout/IconVerticalSolidList"/>
    <dgm:cxn modelId="{F46E8088-3106-43EF-B202-37254EE7F0B2}" type="presParOf" srcId="{B5B84209-D631-4A3B-9655-82CEC0049D02}" destId="{DAD965A6-8CA7-480E-B5B1-F9E8F3CE8A0C}" srcOrd="3" destOrd="0" presId="urn:microsoft.com/office/officeart/2018/2/layout/IconVerticalSolidList"/>
    <dgm:cxn modelId="{BC39B901-A944-4241-A58E-528A525094CB}" type="presParOf" srcId="{693E24BA-99AD-49C5-93A9-C3DDA9693E45}" destId="{00C5CEF6-7F91-4320-AAF2-E742F4F89F18}" srcOrd="3" destOrd="0" presId="urn:microsoft.com/office/officeart/2018/2/layout/IconVerticalSolidList"/>
    <dgm:cxn modelId="{F55CD461-3BDC-4B10-9CCD-CFE28C74EDA1}" type="presParOf" srcId="{693E24BA-99AD-49C5-93A9-C3DDA9693E45}" destId="{F37141A3-278D-497E-80FF-B558DDF501BC}" srcOrd="4" destOrd="0" presId="urn:microsoft.com/office/officeart/2018/2/layout/IconVerticalSolidList"/>
    <dgm:cxn modelId="{DB2454ED-C04E-414D-8BE8-2C7518500878}" type="presParOf" srcId="{F37141A3-278D-497E-80FF-B558DDF501BC}" destId="{9766B9C8-C601-40E6-A4FC-0ED57CFAEEC6}" srcOrd="0" destOrd="0" presId="urn:microsoft.com/office/officeart/2018/2/layout/IconVerticalSolidList"/>
    <dgm:cxn modelId="{E0214BCE-78BA-4881-AC4A-DD1F810F066E}" type="presParOf" srcId="{F37141A3-278D-497E-80FF-B558DDF501BC}" destId="{66E8CE61-C5E9-40CA-A200-EF97DDCA6270}" srcOrd="1" destOrd="0" presId="urn:microsoft.com/office/officeart/2018/2/layout/IconVerticalSolidList"/>
    <dgm:cxn modelId="{B2BAD261-8EF5-4C63-8373-6C36CCF8A5E4}" type="presParOf" srcId="{F37141A3-278D-497E-80FF-B558DDF501BC}" destId="{7A2AF182-0EE3-4416-9300-2053E3AF9E40}" srcOrd="2" destOrd="0" presId="urn:microsoft.com/office/officeart/2018/2/layout/IconVerticalSolidList"/>
    <dgm:cxn modelId="{7B24AB45-23C3-4F4A-8D1C-8A1DC1526721}" type="presParOf" srcId="{F37141A3-278D-497E-80FF-B558DDF501BC}" destId="{8EC08FB3-A5A9-4997-A053-2FE8BF35179C}" srcOrd="3" destOrd="0" presId="urn:microsoft.com/office/officeart/2018/2/layout/IconVerticalSolidList"/>
    <dgm:cxn modelId="{AF9DCF4B-3BA3-42FA-880B-16959EDA7FFE}" type="presParOf" srcId="{693E24BA-99AD-49C5-93A9-C3DDA9693E45}" destId="{72902845-5FD7-4E8B-9D1D-80D8D8777270}" srcOrd="5" destOrd="0" presId="urn:microsoft.com/office/officeart/2018/2/layout/IconVerticalSolidList"/>
    <dgm:cxn modelId="{A942ACB9-E5FB-4B03-A620-096984C2533C}" type="presParOf" srcId="{693E24BA-99AD-49C5-93A9-C3DDA9693E45}" destId="{4B2F0EF9-236C-4929-8941-392EC31B9520}" srcOrd="6" destOrd="0" presId="urn:microsoft.com/office/officeart/2018/2/layout/IconVerticalSolidList"/>
    <dgm:cxn modelId="{DFC596B5-6C75-45A9-AFE9-3A7880C32CE0}" type="presParOf" srcId="{4B2F0EF9-236C-4929-8941-392EC31B9520}" destId="{D2114B3B-C173-4C91-AD4A-48B6BBC7A370}" srcOrd="0" destOrd="0" presId="urn:microsoft.com/office/officeart/2018/2/layout/IconVerticalSolidList"/>
    <dgm:cxn modelId="{475491DD-FC46-476F-8987-6014CAF88CCA}" type="presParOf" srcId="{4B2F0EF9-236C-4929-8941-392EC31B9520}" destId="{A2DD436E-1F28-4629-B6D6-1B66626473C7}" srcOrd="1" destOrd="0" presId="urn:microsoft.com/office/officeart/2018/2/layout/IconVerticalSolidList"/>
    <dgm:cxn modelId="{99D46FD0-E22B-4596-BD45-BE7203981609}" type="presParOf" srcId="{4B2F0EF9-236C-4929-8941-392EC31B9520}" destId="{19AA241F-473E-4EFA-991D-64366DD6B980}" srcOrd="2" destOrd="0" presId="urn:microsoft.com/office/officeart/2018/2/layout/IconVerticalSolidList"/>
    <dgm:cxn modelId="{AE59A570-3501-4001-9E79-0F0EF5A95578}" type="presParOf" srcId="{4B2F0EF9-236C-4929-8941-392EC31B9520}" destId="{5A4AC8D5-68AC-454D-A57F-452B9BB4F4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342B3-D8D9-478B-B8CD-EC832E81CD6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DEA834-9732-4517-9F45-B98F14D472B8}">
      <dgm:prSet/>
      <dgm:spPr/>
      <dgm:t>
        <a:bodyPr/>
        <a:lstStyle/>
        <a:p>
          <a:r>
            <a:rPr lang="en-SG"/>
            <a:t>Most of crashes come from Commercial Airline</a:t>
          </a:r>
          <a:endParaRPr lang="en-US"/>
        </a:p>
      </dgm:t>
    </dgm:pt>
    <dgm:pt modelId="{4DF234D5-252D-4985-A6C3-CB11DF5B6E8B}" type="parTrans" cxnId="{E7068143-269F-41E8-862D-A19ACF9DC159}">
      <dgm:prSet/>
      <dgm:spPr/>
      <dgm:t>
        <a:bodyPr/>
        <a:lstStyle/>
        <a:p>
          <a:endParaRPr lang="en-US"/>
        </a:p>
      </dgm:t>
    </dgm:pt>
    <dgm:pt modelId="{7A284801-9FF9-4BFA-88A8-B5DCD3B55CF7}" type="sibTrans" cxnId="{E7068143-269F-41E8-862D-A19ACF9DC159}">
      <dgm:prSet/>
      <dgm:spPr/>
      <dgm:t>
        <a:bodyPr/>
        <a:lstStyle/>
        <a:p>
          <a:endParaRPr lang="en-US"/>
        </a:p>
      </dgm:t>
    </dgm:pt>
    <dgm:pt modelId="{309066A8-4991-48B2-83F7-B33E1D737855}">
      <dgm:prSet/>
      <dgm:spPr/>
      <dgm:t>
        <a:bodyPr/>
        <a:lstStyle/>
        <a:p>
          <a:r>
            <a:rPr lang="en-SG"/>
            <a:t>Planes with lesser passengers more likely to crash</a:t>
          </a:r>
          <a:endParaRPr lang="en-US"/>
        </a:p>
      </dgm:t>
    </dgm:pt>
    <dgm:pt modelId="{61DC581A-919C-4DA8-8B14-A3E5FDA3BD11}" type="parTrans" cxnId="{59F02A11-7600-45D2-B665-78A9CF63E92C}">
      <dgm:prSet/>
      <dgm:spPr/>
      <dgm:t>
        <a:bodyPr/>
        <a:lstStyle/>
        <a:p>
          <a:endParaRPr lang="en-US"/>
        </a:p>
      </dgm:t>
    </dgm:pt>
    <dgm:pt modelId="{A1CA2A9C-D83F-4A53-A59B-BE8DEF819904}" type="sibTrans" cxnId="{59F02A11-7600-45D2-B665-78A9CF63E92C}">
      <dgm:prSet/>
      <dgm:spPr/>
      <dgm:t>
        <a:bodyPr/>
        <a:lstStyle/>
        <a:p>
          <a:endParaRPr lang="en-US"/>
        </a:p>
      </dgm:t>
    </dgm:pt>
    <dgm:pt modelId="{3D06A451-0B5C-4685-BF9A-2AFB23131147}">
      <dgm:prSet/>
      <dgm:spPr/>
      <dgm:t>
        <a:bodyPr/>
        <a:lstStyle/>
        <a:p>
          <a:r>
            <a:rPr lang="en-US"/>
            <a:t>pilots can better deal with emergency landing</a:t>
          </a:r>
        </a:p>
      </dgm:t>
    </dgm:pt>
    <dgm:pt modelId="{374C88B1-988C-4B5D-B35C-1CB7EBC6FC4E}" type="parTrans" cxnId="{A0C0CDC3-536E-47CB-BA22-33BAE79290F6}">
      <dgm:prSet/>
      <dgm:spPr/>
      <dgm:t>
        <a:bodyPr/>
        <a:lstStyle/>
        <a:p>
          <a:endParaRPr lang="en-US"/>
        </a:p>
      </dgm:t>
    </dgm:pt>
    <dgm:pt modelId="{461F013A-868E-4D6C-AE3B-705D0D15D05C}" type="sibTrans" cxnId="{A0C0CDC3-536E-47CB-BA22-33BAE79290F6}">
      <dgm:prSet/>
      <dgm:spPr/>
      <dgm:t>
        <a:bodyPr/>
        <a:lstStyle/>
        <a:p>
          <a:endParaRPr lang="en-US"/>
        </a:p>
      </dgm:t>
    </dgm:pt>
    <dgm:pt modelId="{2E5E7BD5-560E-467B-B77B-8061FE148331}">
      <dgm:prSet/>
      <dgm:spPr/>
      <dgm:t>
        <a:bodyPr/>
        <a:lstStyle/>
        <a:p>
          <a:r>
            <a:rPr lang="en-US"/>
            <a:t>US Air Force and Aeroflot are the worst operators</a:t>
          </a:r>
        </a:p>
      </dgm:t>
    </dgm:pt>
    <dgm:pt modelId="{5291F9EF-D297-4E0B-B232-7354182D0EA9}" type="parTrans" cxnId="{83B832AD-56BA-42FA-8C09-3F8C4881D5B9}">
      <dgm:prSet/>
      <dgm:spPr/>
      <dgm:t>
        <a:bodyPr/>
        <a:lstStyle/>
        <a:p>
          <a:endParaRPr lang="en-US"/>
        </a:p>
      </dgm:t>
    </dgm:pt>
    <dgm:pt modelId="{9700CA85-A3BD-46D8-83F3-13F1F3B767D8}" type="sibTrans" cxnId="{83B832AD-56BA-42FA-8C09-3F8C4881D5B9}">
      <dgm:prSet/>
      <dgm:spPr/>
      <dgm:t>
        <a:bodyPr/>
        <a:lstStyle/>
        <a:p>
          <a:endParaRPr lang="en-US"/>
        </a:p>
      </dgm:t>
    </dgm:pt>
    <dgm:pt modelId="{3B101DA3-0908-498C-BA8C-57A062E04333}">
      <dgm:prSet/>
      <dgm:spPr/>
      <dgm:t>
        <a:bodyPr/>
        <a:lstStyle/>
        <a:p>
          <a:r>
            <a:rPr lang="en-US"/>
            <a:t>All aircraft types (except DHC-6 &amp; DC-3) does not relate to any accidents (?)</a:t>
          </a:r>
        </a:p>
      </dgm:t>
    </dgm:pt>
    <dgm:pt modelId="{3A7093EF-1942-43FC-9E7A-7898E957695B}" type="parTrans" cxnId="{695C7777-9904-44F9-BBBA-45D88C8D4D1F}">
      <dgm:prSet/>
      <dgm:spPr/>
      <dgm:t>
        <a:bodyPr/>
        <a:lstStyle/>
        <a:p>
          <a:endParaRPr lang="en-US"/>
        </a:p>
      </dgm:t>
    </dgm:pt>
    <dgm:pt modelId="{9329496B-7B8D-4939-9F4E-860E8D6520B4}" type="sibTrans" cxnId="{695C7777-9904-44F9-BBBA-45D88C8D4D1F}">
      <dgm:prSet/>
      <dgm:spPr/>
      <dgm:t>
        <a:bodyPr/>
        <a:lstStyle/>
        <a:p>
          <a:endParaRPr lang="en-US"/>
        </a:p>
      </dgm:t>
    </dgm:pt>
    <dgm:pt modelId="{1AE6056F-5A18-44C8-A7F3-BCB2BA23E6DC}" type="pres">
      <dgm:prSet presAssocID="{FCC342B3-D8D9-478B-B8CD-EC832E81CD64}" presName="vert0" presStyleCnt="0">
        <dgm:presLayoutVars>
          <dgm:dir/>
          <dgm:animOne val="branch"/>
          <dgm:animLvl val="lvl"/>
        </dgm:presLayoutVars>
      </dgm:prSet>
      <dgm:spPr/>
    </dgm:pt>
    <dgm:pt modelId="{A1C9B4DC-1FCE-4AC8-BD46-E9F08866185B}" type="pres">
      <dgm:prSet presAssocID="{75DEA834-9732-4517-9F45-B98F14D472B8}" presName="thickLine" presStyleLbl="alignNode1" presStyleIdx="0" presStyleCnt="5"/>
      <dgm:spPr/>
    </dgm:pt>
    <dgm:pt modelId="{D56CE780-8DDC-4550-A6C7-D53F0947A196}" type="pres">
      <dgm:prSet presAssocID="{75DEA834-9732-4517-9F45-B98F14D472B8}" presName="horz1" presStyleCnt="0"/>
      <dgm:spPr/>
    </dgm:pt>
    <dgm:pt modelId="{F642AF23-2B6C-450F-B6BF-862BA9B59871}" type="pres">
      <dgm:prSet presAssocID="{75DEA834-9732-4517-9F45-B98F14D472B8}" presName="tx1" presStyleLbl="revTx" presStyleIdx="0" presStyleCnt="5"/>
      <dgm:spPr/>
    </dgm:pt>
    <dgm:pt modelId="{7496E388-6DD9-4D40-AF25-C61BDB299606}" type="pres">
      <dgm:prSet presAssocID="{75DEA834-9732-4517-9F45-B98F14D472B8}" presName="vert1" presStyleCnt="0"/>
      <dgm:spPr/>
    </dgm:pt>
    <dgm:pt modelId="{9630F2F3-8F25-4E07-A96F-1E9F16C4F812}" type="pres">
      <dgm:prSet presAssocID="{309066A8-4991-48B2-83F7-B33E1D737855}" presName="thickLine" presStyleLbl="alignNode1" presStyleIdx="1" presStyleCnt="5"/>
      <dgm:spPr/>
    </dgm:pt>
    <dgm:pt modelId="{C97B892D-8760-49F7-BBC4-5116913970C1}" type="pres">
      <dgm:prSet presAssocID="{309066A8-4991-48B2-83F7-B33E1D737855}" presName="horz1" presStyleCnt="0"/>
      <dgm:spPr/>
    </dgm:pt>
    <dgm:pt modelId="{BE5E73B2-F881-443B-BD99-B82E94F5EADC}" type="pres">
      <dgm:prSet presAssocID="{309066A8-4991-48B2-83F7-B33E1D737855}" presName="tx1" presStyleLbl="revTx" presStyleIdx="1" presStyleCnt="5"/>
      <dgm:spPr/>
    </dgm:pt>
    <dgm:pt modelId="{6173BB50-9C3F-4EAC-9458-676451A92B79}" type="pres">
      <dgm:prSet presAssocID="{309066A8-4991-48B2-83F7-B33E1D737855}" presName="vert1" presStyleCnt="0"/>
      <dgm:spPr/>
    </dgm:pt>
    <dgm:pt modelId="{1C13EA24-4DD4-4E6F-B129-67BE09E00CDA}" type="pres">
      <dgm:prSet presAssocID="{3D06A451-0B5C-4685-BF9A-2AFB23131147}" presName="thickLine" presStyleLbl="alignNode1" presStyleIdx="2" presStyleCnt="5"/>
      <dgm:spPr/>
    </dgm:pt>
    <dgm:pt modelId="{8AFDD8CB-C404-42E7-95E3-C7D3897A6208}" type="pres">
      <dgm:prSet presAssocID="{3D06A451-0B5C-4685-BF9A-2AFB23131147}" presName="horz1" presStyleCnt="0"/>
      <dgm:spPr/>
    </dgm:pt>
    <dgm:pt modelId="{898BC764-23D8-493A-A9F4-DC96D923D5B0}" type="pres">
      <dgm:prSet presAssocID="{3D06A451-0B5C-4685-BF9A-2AFB23131147}" presName="tx1" presStyleLbl="revTx" presStyleIdx="2" presStyleCnt="5"/>
      <dgm:spPr/>
    </dgm:pt>
    <dgm:pt modelId="{D73C020B-E880-481C-80FB-064C9649177F}" type="pres">
      <dgm:prSet presAssocID="{3D06A451-0B5C-4685-BF9A-2AFB23131147}" presName="vert1" presStyleCnt="0"/>
      <dgm:spPr/>
    </dgm:pt>
    <dgm:pt modelId="{A300FFA2-7FE8-444D-A997-8313061B91C8}" type="pres">
      <dgm:prSet presAssocID="{2E5E7BD5-560E-467B-B77B-8061FE148331}" presName="thickLine" presStyleLbl="alignNode1" presStyleIdx="3" presStyleCnt="5"/>
      <dgm:spPr/>
    </dgm:pt>
    <dgm:pt modelId="{E2886BE6-511C-4B30-9D67-8F65F1C4E52A}" type="pres">
      <dgm:prSet presAssocID="{2E5E7BD5-560E-467B-B77B-8061FE148331}" presName="horz1" presStyleCnt="0"/>
      <dgm:spPr/>
    </dgm:pt>
    <dgm:pt modelId="{2AA7A2E1-F22B-480D-A9D8-961EA76C3D67}" type="pres">
      <dgm:prSet presAssocID="{2E5E7BD5-560E-467B-B77B-8061FE148331}" presName="tx1" presStyleLbl="revTx" presStyleIdx="3" presStyleCnt="5"/>
      <dgm:spPr/>
    </dgm:pt>
    <dgm:pt modelId="{715AC7F0-208D-4144-8AD6-E29DF74B0A4A}" type="pres">
      <dgm:prSet presAssocID="{2E5E7BD5-560E-467B-B77B-8061FE148331}" presName="vert1" presStyleCnt="0"/>
      <dgm:spPr/>
    </dgm:pt>
    <dgm:pt modelId="{0851A730-2187-4040-A8C2-E2E484340B63}" type="pres">
      <dgm:prSet presAssocID="{3B101DA3-0908-498C-BA8C-57A062E04333}" presName="thickLine" presStyleLbl="alignNode1" presStyleIdx="4" presStyleCnt="5"/>
      <dgm:spPr/>
    </dgm:pt>
    <dgm:pt modelId="{85E73CA8-033D-43E4-B3C9-0A519CE1C242}" type="pres">
      <dgm:prSet presAssocID="{3B101DA3-0908-498C-BA8C-57A062E04333}" presName="horz1" presStyleCnt="0"/>
      <dgm:spPr/>
    </dgm:pt>
    <dgm:pt modelId="{63E909DD-3376-45CD-AAE9-C5BF05FEF928}" type="pres">
      <dgm:prSet presAssocID="{3B101DA3-0908-498C-BA8C-57A062E04333}" presName="tx1" presStyleLbl="revTx" presStyleIdx="4" presStyleCnt="5"/>
      <dgm:spPr/>
    </dgm:pt>
    <dgm:pt modelId="{2656BF61-63F1-4AB7-9EB2-74F02538A37B}" type="pres">
      <dgm:prSet presAssocID="{3B101DA3-0908-498C-BA8C-57A062E04333}" presName="vert1" presStyleCnt="0"/>
      <dgm:spPr/>
    </dgm:pt>
  </dgm:ptLst>
  <dgm:cxnLst>
    <dgm:cxn modelId="{59F02A11-7600-45D2-B665-78A9CF63E92C}" srcId="{FCC342B3-D8D9-478B-B8CD-EC832E81CD64}" destId="{309066A8-4991-48B2-83F7-B33E1D737855}" srcOrd="1" destOrd="0" parTransId="{61DC581A-919C-4DA8-8B14-A3E5FDA3BD11}" sibTransId="{A1CA2A9C-D83F-4A53-A59B-BE8DEF819904}"/>
    <dgm:cxn modelId="{E7068143-269F-41E8-862D-A19ACF9DC159}" srcId="{FCC342B3-D8D9-478B-B8CD-EC832E81CD64}" destId="{75DEA834-9732-4517-9F45-B98F14D472B8}" srcOrd="0" destOrd="0" parTransId="{4DF234D5-252D-4985-A6C3-CB11DF5B6E8B}" sibTransId="{7A284801-9FF9-4BFA-88A8-B5DCD3B55CF7}"/>
    <dgm:cxn modelId="{695C7777-9904-44F9-BBBA-45D88C8D4D1F}" srcId="{FCC342B3-D8D9-478B-B8CD-EC832E81CD64}" destId="{3B101DA3-0908-498C-BA8C-57A062E04333}" srcOrd="4" destOrd="0" parTransId="{3A7093EF-1942-43FC-9E7A-7898E957695B}" sibTransId="{9329496B-7B8D-4939-9F4E-860E8D6520B4}"/>
    <dgm:cxn modelId="{A3C5C085-3E36-4B37-9898-D337A7F68FAE}" type="presOf" srcId="{2E5E7BD5-560E-467B-B77B-8061FE148331}" destId="{2AA7A2E1-F22B-480D-A9D8-961EA76C3D67}" srcOrd="0" destOrd="0" presId="urn:microsoft.com/office/officeart/2008/layout/LinedList"/>
    <dgm:cxn modelId="{7AD31493-12DC-4863-9093-D9104376AD67}" type="presOf" srcId="{309066A8-4991-48B2-83F7-B33E1D737855}" destId="{BE5E73B2-F881-443B-BD99-B82E94F5EADC}" srcOrd="0" destOrd="0" presId="urn:microsoft.com/office/officeart/2008/layout/LinedList"/>
    <dgm:cxn modelId="{83B832AD-56BA-42FA-8C09-3F8C4881D5B9}" srcId="{FCC342B3-D8D9-478B-B8CD-EC832E81CD64}" destId="{2E5E7BD5-560E-467B-B77B-8061FE148331}" srcOrd="3" destOrd="0" parTransId="{5291F9EF-D297-4E0B-B232-7354182D0EA9}" sibTransId="{9700CA85-A3BD-46D8-83F3-13F1F3B767D8}"/>
    <dgm:cxn modelId="{455EF0B0-E3A5-4A0F-8D5B-6F24B2B8BC18}" type="presOf" srcId="{3B101DA3-0908-498C-BA8C-57A062E04333}" destId="{63E909DD-3376-45CD-AAE9-C5BF05FEF928}" srcOrd="0" destOrd="0" presId="urn:microsoft.com/office/officeart/2008/layout/LinedList"/>
    <dgm:cxn modelId="{396B34B9-BA47-4B20-BDCF-7C6BE07EB140}" type="presOf" srcId="{75DEA834-9732-4517-9F45-B98F14D472B8}" destId="{F642AF23-2B6C-450F-B6BF-862BA9B59871}" srcOrd="0" destOrd="0" presId="urn:microsoft.com/office/officeart/2008/layout/LinedList"/>
    <dgm:cxn modelId="{A0C0CDC3-536E-47CB-BA22-33BAE79290F6}" srcId="{FCC342B3-D8D9-478B-B8CD-EC832E81CD64}" destId="{3D06A451-0B5C-4685-BF9A-2AFB23131147}" srcOrd="2" destOrd="0" parTransId="{374C88B1-988C-4B5D-B35C-1CB7EBC6FC4E}" sibTransId="{461F013A-868E-4D6C-AE3B-705D0D15D05C}"/>
    <dgm:cxn modelId="{F61E70DE-26A0-40D1-9443-50E3886108AF}" type="presOf" srcId="{FCC342B3-D8D9-478B-B8CD-EC832E81CD64}" destId="{1AE6056F-5A18-44C8-A7F3-BCB2BA23E6DC}" srcOrd="0" destOrd="0" presId="urn:microsoft.com/office/officeart/2008/layout/LinedList"/>
    <dgm:cxn modelId="{595A8BFF-AA23-4C10-9950-8CD912ECBA64}" type="presOf" srcId="{3D06A451-0B5C-4685-BF9A-2AFB23131147}" destId="{898BC764-23D8-493A-A9F4-DC96D923D5B0}" srcOrd="0" destOrd="0" presId="urn:microsoft.com/office/officeart/2008/layout/LinedList"/>
    <dgm:cxn modelId="{7499855F-4F17-45EA-B3EA-0C9361EBDE94}" type="presParOf" srcId="{1AE6056F-5A18-44C8-A7F3-BCB2BA23E6DC}" destId="{A1C9B4DC-1FCE-4AC8-BD46-E9F08866185B}" srcOrd="0" destOrd="0" presId="urn:microsoft.com/office/officeart/2008/layout/LinedList"/>
    <dgm:cxn modelId="{24A7E9E4-0F76-4343-B56A-4F4972C97260}" type="presParOf" srcId="{1AE6056F-5A18-44C8-A7F3-BCB2BA23E6DC}" destId="{D56CE780-8DDC-4550-A6C7-D53F0947A196}" srcOrd="1" destOrd="0" presId="urn:microsoft.com/office/officeart/2008/layout/LinedList"/>
    <dgm:cxn modelId="{DF2C2446-7549-44CC-A897-F7354DDAFB7B}" type="presParOf" srcId="{D56CE780-8DDC-4550-A6C7-D53F0947A196}" destId="{F642AF23-2B6C-450F-B6BF-862BA9B59871}" srcOrd="0" destOrd="0" presId="urn:microsoft.com/office/officeart/2008/layout/LinedList"/>
    <dgm:cxn modelId="{9B7B68D0-DED4-43F3-9708-83FD8B1720B1}" type="presParOf" srcId="{D56CE780-8DDC-4550-A6C7-D53F0947A196}" destId="{7496E388-6DD9-4D40-AF25-C61BDB299606}" srcOrd="1" destOrd="0" presId="urn:microsoft.com/office/officeart/2008/layout/LinedList"/>
    <dgm:cxn modelId="{F311D841-C17C-4807-AC48-4349DE1D32AE}" type="presParOf" srcId="{1AE6056F-5A18-44C8-A7F3-BCB2BA23E6DC}" destId="{9630F2F3-8F25-4E07-A96F-1E9F16C4F812}" srcOrd="2" destOrd="0" presId="urn:microsoft.com/office/officeart/2008/layout/LinedList"/>
    <dgm:cxn modelId="{F64AE5B5-14C4-4B9A-927A-F4BC7F77565A}" type="presParOf" srcId="{1AE6056F-5A18-44C8-A7F3-BCB2BA23E6DC}" destId="{C97B892D-8760-49F7-BBC4-5116913970C1}" srcOrd="3" destOrd="0" presId="urn:microsoft.com/office/officeart/2008/layout/LinedList"/>
    <dgm:cxn modelId="{52C93427-D782-4294-9A5D-F946188460EF}" type="presParOf" srcId="{C97B892D-8760-49F7-BBC4-5116913970C1}" destId="{BE5E73B2-F881-443B-BD99-B82E94F5EADC}" srcOrd="0" destOrd="0" presId="urn:microsoft.com/office/officeart/2008/layout/LinedList"/>
    <dgm:cxn modelId="{74B5CE75-646C-4AF6-9276-A8F66EDBEA0D}" type="presParOf" srcId="{C97B892D-8760-49F7-BBC4-5116913970C1}" destId="{6173BB50-9C3F-4EAC-9458-676451A92B79}" srcOrd="1" destOrd="0" presId="urn:microsoft.com/office/officeart/2008/layout/LinedList"/>
    <dgm:cxn modelId="{222764FE-D9E2-4A5D-ACCF-142A5BC6A1B6}" type="presParOf" srcId="{1AE6056F-5A18-44C8-A7F3-BCB2BA23E6DC}" destId="{1C13EA24-4DD4-4E6F-B129-67BE09E00CDA}" srcOrd="4" destOrd="0" presId="urn:microsoft.com/office/officeart/2008/layout/LinedList"/>
    <dgm:cxn modelId="{B8753A08-D569-4A24-B334-94CC741052D1}" type="presParOf" srcId="{1AE6056F-5A18-44C8-A7F3-BCB2BA23E6DC}" destId="{8AFDD8CB-C404-42E7-95E3-C7D3897A6208}" srcOrd="5" destOrd="0" presId="urn:microsoft.com/office/officeart/2008/layout/LinedList"/>
    <dgm:cxn modelId="{A5387410-BEEB-4518-914A-A68AEE000EE0}" type="presParOf" srcId="{8AFDD8CB-C404-42E7-95E3-C7D3897A6208}" destId="{898BC764-23D8-493A-A9F4-DC96D923D5B0}" srcOrd="0" destOrd="0" presId="urn:microsoft.com/office/officeart/2008/layout/LinedList"/>
    <dgm:cxn modelId="{D8A9C89A-025E-4BA5-883C-6F17E4CF9419}" type="presParOf" srcId="{8AFDD8CB-C404-42E7-95E3-C7D3897A6208}" destId="{D73C020B-E880-481C-80FB-064C9649177F}" srcOrd="1" destOrd="0" presId="urn:microsoft.com/office/officeart/2008/layout/LinedList"/>
    <dgm:cxn modelId="{406166D8-824A-47EF-9A97-25C0035BA8C5}" type="presParOf" srcId="{1AE6056F-5A18-44C8-A7F3-BCB2BA23E6DC}" destId="{A300FFA2-7FE8-444D-A997-8313061B91C8}" srcOrd="6" destOrd="0" presId="urn:microsoft.com/office/officeart/2008/layout/LinedList"/>
    <dgm:cxn modelId="{EB548BDB-F812-400B-9A93-66BC1D5FDE5B}" type="presParOf" srcId="{1AE6056F-5A18-44C8-A7F3-BCB2BA23E6DC}" destId="{E2886BE6-511C-4B30-9D67-8F65F1C4E52A}" srcOrd="7" destOrd="0" presId="urn:microsoft.com/office/officeart/2008/layout/LinedList"/>
    <dgm:cxn modelId="{B4297A0C-A27A-4E7E-AC53-C86104BAE59D}" type="presParOf" srcId="{E2886BE6-511C-4B30-9D67-8F65F1C4E52A}" destId="{2AA7A2E1-F22B-480D-A9D8-961EA76C3D67}" srcOrd="0" destOrd="0" presId="urn:microsoft.com/office/officeart/2008/layout/LinedList"/>
    <dgm:cxn modelId="{D2AC2334-3CD1-4751-AFE3-8E717557D68B}" type="presParOf" srcId="{E2886BE6-511C-4B30-9D67-8F65F1C4E52A}" destId="{715AC7F0-208D-4144-8AD6-E29DF74B0A4A}" srcOrd="1" destOrd="0" presId="urn:microsoft.com/office/officeart/2008/layout/LinedList"/>
    <dgm:cxn modelId="{E1E90AA2-CD97-4C60-A5A7-C8FD3E01970D}" type="presParOf" srcId="{1AE6056F-5A18-44C8-A7F3-BCB2BA23E6DC}" destId="{0851A730-2187-4040-A8C2-E2E484340B63}" srcOrd="8" destOrd="0" presId="urn:microsoft.com/office/officeart/2008/layout/LinedList"/>
    <dgm:cxn modelId="{51C94E4F-19DF-4B12-A16B-0B9D0157C3DA}" type="presParOf" srcId="{1AE6056F-5A18-44C8-A7F3-BCB2BA23E6DC}" destId="{85E73CA8-033D-43E4-B3C9-0A519CE1C242}" srcOrd="9" destOrd="0" presId="urn:microsoft.com/office/officeart/2008/layout/LinedList"/>
    <dgm:cxn modelId="{E94AFC9B-784F-42F0-8157-051270E1442C}" type="presParOf" srcId="{85E73CA8-033D-43E4-B3C9-0A519CE1C242}" destId="{63E909DD-3376-45CD-AAE9-C5BF05FEF928}" srcOrd="0" destOrd="0" presId="urn:microsoft.com/office/officeart/2008/layout/LinedList"/>
    <dgm:cxn modelId="{0EEBCCF0-6C8A-475E-9418-2D9E352254C8}" type="presParOf" srcId="{85E73CA8-033D-43E4-B3C9-0A519CE1C242}" destId="{2656BF61-63F1-4AB7-9EB2-74F02538A37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2B7EB-8355-44DF-992F-825BBEB2C49C}">
      <dsp:nvSpPr>
        <dsp:cNvPr id="0" name=""/>
        <dsp:cNvSpPr/>
      </dsp:nvSpPr>
      <dsp:spPr>
        <a:xfrm>
          <a:off x="0" y="2089"/>
          <a:ext cx="6132236" cy="1059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8523D-2182-4C10-85FC-622397A31507}">
      <dsp:nvSpPr>
        <dsp:cNvPr id="0" name=""/>
        <dsp:cNvSpPr/>
      </dsp:nvSpPr>
      <dsp:spPr>
        <a:xfrm>
          <a:off x="320381" y="240390"/>
          <a:ext cx="582512" cy="5825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7DD0A-2EED-4648-B1EC-87E02B67A568}">
      <dsp:nvSpPr>
        <dsp:cNvPr id="0" name=""/>
        <dsp:cNvSpPr/>
      </dsp:nvSpPr>
      <dsp:spPr>
        <a:xfrm>
          <a:off x="1223275" y="2089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Introduce Dataset and its features</a:t>
          </a:r>
          <a:endParaRPr lang="en-US" sz="2200" kern="1200"/>
        </a:p>
      </dsp:txBody>
      <dsp:txXfrm>
        <a:off x="1223275" y="2089"/>
        <a:ext cx="4908961" cy="1059112"/>
      </dsp:txXfrm>
    </dsp:sp>
    <dsp:sp modelId="{B72C0083-1EAE-475D-90E8-9478A9A6D2D4}">
      <dsp:nvSpPr>
        <dsp:cNvPr id="0" name=""/>
        <dsp:cNvSpPr/>
      </dsp:nvSpPr>
      <dsp:spPr>
        <a:xfrm>
          <a:off x="0" y="1325980"/>
          <a:ext cx="6132236" cy="1059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2CCB2-614A-4441-BB47-FAF3752FD0D3}">
      <dsp:nvSpPr>
        <dsp:cNvPr id="0" name=""/>
        <dsp:cNvSpPr/>
      </dsp:nvSpPr>
      <dsp:spPr>
        <a:xfrm>
          <a:off x="320381" y="1564281"/>
          <a:ext cx="582512" cy="5825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965A6-8CA7-480E-B5B1-F9E8F3CE8A0C}">
      <dsp:nvSpPr>
        <dsp:cNvPr id="0" name=""/>
        <dsp:cNvSpPr/>
      </dsp:nvSpPr>
      <dsp:spPr>
        <a:xfrm>
          <a:off x="1223275" y="1325980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Data Cleaning &amp; Feature Engineering</a:t>
          </a:r>
          <a:endParaRPr lang="en-US" sz="2200" kern="1200"/>
        </a:p>
      </dsp:txBody>
      <dsp:txXfrm>
        <a:off x="1223275" y="1325980"/>
        <a:ext cx="4908961" cy="1059112"/>
      </dsp:txXfrm>
    </dsp:sp>
    <dsp:sp modelId="{9766B9C8-C601-40E6-A4FC-0ED57CFAEEC6}">
      <dsp:nvSpPr>
        <dsp:cNvPr id="0" name=""/>
        <dsp:cNvSpPr/>
      </dsp:nvSpPr>
      <dsp:spPr>
        <a:xfrm>
          <a:off x="0" y="2649872"/>
          <a:ext cx="6132236" cy="1059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8CE61-C5E9-40CA-A200-EF97DDCA6270}">
      <dsp:nvSpPr>
        <dsp:cNvPr id="0" name=""/>
        <dsp:cNvSpPr/>
      </dsp:nvSpPr>
      <dsp:spPr>
        <a:xfrm>
          <a:off x="320381" y="2888172"/>
          <a:ext cx="582512" cy="5825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08FB3-A5A9-4997-A053-2FE8BF35179C}">
      <dsp:nvSpPr>
        <dsp:cNvPr id="0" name=""/>
        <dsp:cNvSpPr/>
      </dsp:nvSpPr>
      <dsp:spPr>
        <a:xfrm>
          <a:off x="1223275" y="2649872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Data Visualisation and inference </a:t>
          </a:r>
          <a:endParaRPr lang="en-US" sz="2200" kern="1200"/>
        </a:p>
      </dsp:txBody>
      <dsp:txXfrm>
        <a:off x="1223275" y="2649872"/>
        <a:ext cx="4908961" cy="1059112"/>
      </dsp:txXfrm>
    </dsp:sp>
    <dsp:sp modelId="{D2114B3B-C173-4C91-AD4A-48B6BBC7A370}">
      <dsp:nvSpPr>
        <dsp:cNvPr id="0" name=""/>
        <dsp:cNvSpPr/>
      </dsp:nvSpPr>
      <dsp:spPr>
        <a:xfrm>
          <a:off x="0" y="3973763"/>
          <a:ext cx="6132236" cy="10591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D436E-1F28-4629-B6D6-1B66626473C7}">
      <dsp:nvSpPr>
        <dsp:cNvPr id="0" name=""/>
        <dsp:cNvSpPr/>
      </dsp:nvSpPr>
      <dsp:spPr>
        <a:xfrm>
          <a:off x="320381" y="4212063"/>
          <a:ext cx="582512" cy="5825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AC8D5-68AC-454D-A57F-452B9BB4F4A3}">
      <dsp:nvSpPr>
        <dsp:cNvPr id="0" name=""/>
        <dsp:cNvSpPr/>
      </dsp:nvSpPr>
      <dsp:spPr>
        <a:xfrm>
          <a:off x="1223275" y="3973763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Future Recommendation</a:t>
          </a:r>
          <a:endParaRPr lang="en-US" sz="2200" kern="1200"/>
        </a:p>
      </dsp:txBody>
      <dsp:txXfrm>
        <a:off x="1223275" y="3973763"/>
        <a:ext cx="4908961" cy="1059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C9B4DC-1FCE-4AC8-BD46-E9F08866185B}">
      <dsp:nvSpPr>
        <dsp:cNvPr id="0" name=""/>
        <dsp:cNvSpPr/>
      </dsp:nvSpPr>
      <dsp:spPr>
        <a:xfrm>
          <a:off x="0" y="607"/>
          <a:ext cx="5664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2AF23-2B6C-450F-B6BF-862BA9B59871}">
      <dsp:nvSpPr>
        <dsp:cNvPr id="0" name=""/>
        <dsp:cNvSpPr/>
      </dsp:nvSpPr>
      <dsp:spPr>
        <a:xfrm>
          <a:off x="0" y="607"/>
          <a:ext cx="5664038" cy="99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Most of crashes come from Commercial Airline</a:t>
          </a:r>
          <a:endParaRPr lang="en-US" sz="2500" kern="1200"/>
        </a:p>
      </dsp:txBody>
      <dsp:txXfrm>
        <a:off x="0" y="607"/>
        <a:ext cx="5664038" cy="995695"/>
      </dsp:txXfrm>
    </dsp:sp>
    <dsp:sp modelId="{9630F2F3-8F25-4E07-A96F-1E9F16C4F812}">
      <dsp:nvSpPr>
        <dsp:cNvPr id="0" name=""/>
        <dsp:cNvSpPr/>
      </dsp:nvSpPr>
      <dsp:spPr>
        <a:xfrm>
          <a:off x="0" y="996303"/>
          <a:ext cx="5664038" cy="0"/>
        </a:xfrm>
        <a:prstGeom prst="line">
          <a:avLst/>
        </a:prstGeom>
        <a:solidFill>
          <a:schemeClr val="accent5">
            <a:hueOff val="2034273"/>
            <a:satOff val="13799"/>
            <a:lumOff val="-196"/>
            <a:alphaOff val="0"/>
          </a:schemeClr>
        </a:solidFill>
        <a:ln w="12700" cap="flat" cmpd="sng" algn="ctr">
          <a:solidFill>
            <a:schemeClr val="accent5">
              <a:hueOff val="2034273"/>
              <a:satOff val="13799"/>
              <a:lumOff val="-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E73B2-F881-443B-BD99-B82E94F5EADC}">
      <dsp:nvSpPr>
        <dsp:cNvPr id="0" name=""/>
        <dsp:cNvSpPr/>
      </dsp:nvSpPr>
      <dsp:spPr>
        <a:xfrm>
          <a:off x="0" y="996303"/>
          <a:ext cx="5664038" cy="99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/>
            <a:t>Planes with lesser passengers more likely to crash</a:t>
          </a:r>
          <a:endParaRPr lang="en-US" sz="2500" kern="1200"/>
        </a:p>
      </dsp:txBody>
      <dsp:txXfrm>
        <a:off x="0" y="996303"/>
        <a:ext cx="5664038" cy="995695"/>
      </dsp:txXfrm>
    </dsp:sp>
    <dsp:sp modelId="{1C13EA24-4DD4-4E6F-B129-67BE09E00CDA}">
      <dsp:nvSpPr>
        <dsp:cNvPr id="0" name=""/>
        <dsp:cNvSpPr/>
      </dsp:nvSpPr>
      <dsp:spPr>
        <a:xfrm>
          <a:off x="0" y="1991999"/>
          <a:ext cx="5664038" cy="0"/>
        </a:xfrm>
        <a:prstGeom prst="line">
          <a:avLst/>
        </a:prstGeom>
        <a:solidFill>
          <a:schemeClr val="accent5">
            <a:hueOff val="4068545"/>
            <a:satOff val="27599"/>
            <a:lumOff val="-391"/>
            <a:alphaOff val="0"/>
          </a:schemeClr>
        </a:solidFill>
        <a:ln w="12700" cap="flat" cmpd="sng" algn="ctr">
          <a:solidFill>
            <a:schemeClr val="accent5">
              <a:hueOff val="4068545"/>
              <a:satOff val="27599"/>
              <a:lumOff val="-3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BC764-23D8-493A-A9F4-DC96D923D5B0}">
      <dsp:nvSpPr>
        <dsp:cNvPr id="0" name=""/>
        <dsp:cNvSpPr/>
      </dsp:nvSpPr>
      <dsp:spPr>
        <a:xfrm>
          <a:off x="0" y="1991999"/>
          <a:ext cx="5664038" cy="99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pilots can better deal with emergency landing</a:t>
          </a:r>
        </a:p>
      </dsp:txBody>
      <dsp:txXfrm>
        <a:off x="0" y="1991999"/>
        <a:ext cx="5664038" cy="995695"/>
      </dsp:txXfrm>
    </dsp:sp>
    <dsp:sp modelId="{A300FFA2-7FE8-444D-A997-8313061B91C8}">
      <dsp:nvSpPr>
        <dsp:cNvPr id="0" name=""/>
        <dsp:cNvSpPr/>
      </dsp:nvSpPr>
      <dsp:spPr>
        <a:xfrm>
          <a:off x="0" y="2987694"/>
          <a:ext cx="5664038" cy="0"/>
        </a:xfrm>
        <a:prstGeom prst="line">
          <a:avLst/>
        </a:prstGeom>
        <a:solidFill>
          <a:schemeClr val="accent5">
            <a:hueOff val="6102818"/>
            <a:satOff val="41398"/>
            <a:lumOff val="-587"/>
            <a:alphaOff val="0"/>
          </a:schemeClr>
        </a:solidFill>
        <a:ln w="12700" cap="flat" cmpd="sng" algn="ctr">
          <a:solidFill>
            <a:schemeClr val="accent5">
              <a:hueOff val="6102818"/>
              <a:satOff val="41398"/>
              <a:lumOff val="-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7A2E1-F22B-480D-A9D8-961EA76C3D67}">
      <dsp:nvSpPr>
        <dsp:cNvPr id="0" name=""/>
        <dsp:cNvSpPr/>
      </dsp:nvSpPr>
      <dsp:spPr>
        <a:xfrm>
          <a:off x="0" y="2987694"/>
          <a:ext cx="5664038" cy="99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 Air Force and Aeroflot are the worst operators</a:t>
          </a:r>
        </a:p>
      </dsp:txBody>
      <dsp:txXfrm>
        <a:off x="0" y="2987694"/>
        <a:ext cx="5664038" cy="995695"/>
      </dsp:txXfrm>
    </dsp:sp>
    <dsp:sp modelId="{0851A730-2187-4040-A8C2-E2E484340B63}">
      <dsp:nvSpPr>
        <dsp:cNvPr id="0" name=""/>
        <dsp:cNvSpPr/>
      </dsp:nvSpPr>
      <dsp:spPr>
        <a:xfrm>
          <a:off x="0" y="3983390"/>
          <a:ext cx="5664038" cy="0"/>
        </a:xfrm>
        <a:prstGeom prst="line">
          <a:avLst/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 w="12700" cap="flat" cmpd="sng" algn="ctr">
          <a:solidFill>
            <a:schemeClr val="accent5">
              <a:hueOff val="8137091"/>
              <a:satOff val="55197"/>
              <a:lumOff val="-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909DD-3376-45CD-AAE9-C5BF05FEF928}">
      <dsp:nvSpPr>
        <dsp:cNvPr id="0" name=""/>
        <dsp:cNvSpPr/>
      </dsp:nvSpPr>
      <dsp:spPr>
        <a:xfrm>
          <a:off x="0" y="3983390"/>
          <a:ext cx="5664038" cy="99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All aircraft types (except DHC-6 &amp; DC-3) does not relate to any accidents (?)</a:t>
          </a:r>
        </a:p>
      </dsp:txBody>
      <dsp:txXfrm>
        <a:off x="0" y="3983390"/>
        <a:ext cx="5664038" cy="995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91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9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91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8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5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7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8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75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21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5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10/26/2021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3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planecrashinfo.com/database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3" descr="Aeroplane taking off against dramatic sky">
            <a:extLst>
              <a:ext uri="{FF2B5EF4-FFF2-40B4-BE49-F238E27FC236}">
                <a16:creationId xmlns:a16="http://schemas.microsoft.com/office/drawing/2014/main" id="{89CBE656-856D-4E8A-964F-270AE0E1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14083"/>
          <a:stretch/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F80C01-C0ED-4E4B-ADEE-F0CED7612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en-SG" sz="5400" dirty="0"/>
              <a:t>Plane Crash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DCE69-C6D9-4A4D-8CA0-9002DCBF4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anchor="t">
            <a:normAutofit/>
          </a:bodyPr>
          <a:lstStyle/>
          <a:p>
            <a:r>
              <a:rPr lang="en-SG" dirty="0"/>
              <a:t>Presenter: Shao Ming</a:t>
            </a:r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A36ED7-B3F7-4640-B942-9A8A80CD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SG" dirty="0"/>
              <a:t>Content Page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A356947-B5DA-4965-AB4D-E5BAB40ED3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828579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448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92E2-DC6C-4CC2-B8A3-BA916905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838-79D0-4410-A341-7DF369C01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819" y="758952"/>
            <a:ext cx="6862439" cy="4754880"/>
          </a:xfrm>
        </p:spPr>
        <p:txBody>
          <a:bodyPr>
            <a:normAutofit/>
          </a:bodyPr>
          <a:lstStyle/>
          <a:p>
            <a:r>
              <a:rPr lang="en-US" dirty="0"/>
              <a:t>The aviation accident database throughout the world, from 1908-2019.</a:t>
            </a:r>
          </a:p>
          <a:p>
            <a:r>
              <a:rPr lang="en-US" dirty="0"/>
              <a:t>Data scraped from </a:t>
            </a:r>
            <a:r>
              <a:rPr lang="en-US" dirty="0">
                <a:hlinkClick r:id="rId2"/>
              </a:rPr>
              <a:t>http://www.planecrashinfo.com/database.htm</a:t>
            </a:r>
            <a:endParaRPr lang="en-US" dirty="0"/>
          </a:p>
          <a:p>
            <a:r>
              <a:rPr lang="en-US" dirty="0"/>
              <a:t>Features: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Date and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Location of crash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Operator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Aircraft 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Registration (Reg.), serial number (</a:t>
            </a:r>
            <a:r>
              <a:rPr lang="en-US" dirty="0" err="1"/>
              <a:t>cn</a:t>
            </a:r>
            <a:r>
              <a:rPr lang="en-US" dirty="0"/>
              <a:t>), Flight number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Total aboard, fatalities aboard, killed on ground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5F6F6-EBDA-435C-9886-22C0AFCDC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2" y="1819275"/>
            <a:ext cx="444817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7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E5D5-B80C-4453-B967-34D51E0B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Motivation: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B0B2-25C1-4A45-9AE5-98985D0AA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882021"/>
            <a:ext cx="8517128" cy="3093957"/>
          </a:xfrm>
        </p:spPr>
        <p:txBody>
          <a:bodyPr/>
          <a:lstStyle/>
          <a:p>
            <a:r>
              <a:rPr lang="en-SG" sz="2800" dirty="0"/>
              <a:t>Business Question: </a:t>
            </a:r>
          </a:p>
          <a:p>
            <a:pPr marL="0" indent="0">
              <a:buNone/>
            </a:pPr>
            <a:r>
              <a:rPr lang="en-SG" sz="2800" dirty="0"/>
              <a:t>What is the root </a:t>
            </a:r>
            <a:r>
              <a:rPr lang="en-SG" sz="2800" b="1" dirty="0"/>
              <a:t>cause</a:t>
            </a:r>
            <a:r>
              <a:rPr lang="en-SG" sz="2800" dirty="0"/>
              <a:t> of the plane crash?</a:t>
            </a:r>
          </a:p>
          <a:p>
            <a:endParaRPr lang="en-SG" sz="2800" dirty="0"/>
          </a:p>
          <a:p>
            <a:r>
              <a:rPr lang="en-SG" sz="2800" dirty="0"/>
              <a:t>Data Science Questions?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49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E3A7-5070-482E-A43F-B4AF8320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5" y="144234"/>
            <a:ext cx="8893093" cy="1678325"/>
          </a:xfrm>
        </p:spPr>
        <p:txBody>
          <a:bodyPr/>
          <a:lstStyle/>
          <a:p>
            <a:r>
              <a:rPr lang="en-US" dirty="0"/>
              <a:t>Data Science questions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FF93-A513-4FD3-AFD0-70E30B813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635" y="350579"/>
            <a:ext cx="6245352" cy="1788939"/>
          </a:xfrm>
        </p:spPr>
        <p:txBody>
          <a:bodyPr>
            <a:normAutofit/>
          </a:bodyPr>
          <a:lstStyle/>
          <a:p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F9BBFE-B55D-458A-826D-3413B0FBCCAB}"/>
              </a:ext>
            </a:extLst>
          </p:cNvPr>
          <p:cNvSpPr txBox="1">
            <a:spLocks/>
          </p:cNvSpPr>
          <p:nvPr/>
        </p:nvSpPr>
        <p:spPr>
          <a:xfrm>
            <a:off x="1954655" y="2458286"/>
            <a:ext cx="6245352" cy="3480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SG" dirty="0"/>
          </a:p>
          <a:p>
            <a:pPr marL="0" indent="0">
              <a:buFont typeface="Arial" panose="020B0604020202020204" pitchFamily="34" charset="0"/>
              <a:buNone/>
            </a:pPr>
            <a:endParaRPr lang="en-SG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CD26E95-C593-424A-A071-0A8E272F3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667684"/>
              </p:ext>
            </p:extLst>
          </p:nvPr>
        </p:nvGraphicFramePr>
        <p:xfrm>
          <a:off x="637035" y="1981943"/>
          <a:ext cx="10531074" cy="465633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65537">
                  <a:extLst>
                    <a:ext uri="{9D8B030D-6E8A-4147-A177-3AD203B41FA5}">
                      <a16:colId xmlns:a16="http://schemas.microsoft.com/office/drawing/2014/main" val="1982061052"/>
                    </a:ext>
                  </a:extLst>
                </a:gridCol>
                <a:gridCol w="5265537">
                  <a:extLst>
                    <a:ext uri="{9D8B030D-6E8A-4147-A177-3AD203B41FA5}">
                      <a16:colId xmlns:a16="http://schemas.microsoft.com/office/drawing/2014/main" val="1200325180"/>
                    </a:ext>
                  </a:extLst>
                </a:gridCol>
              </a:tblGrid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90161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Trend of Accident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57037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Does accident usually occurs on Day or night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95882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Where does accident likely to occur?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15571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Who is the worst operator?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180772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Aircraft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Which aircraft type is the worst?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348280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Reg. &amp; </a:t>
                      </a:r>
                      <a:r>
                        <a:rPr lang="en-US" dirty="0" err="1"/>
                        <a:t>cn</a:t>
                      </a:r>
                      <a:r>
                        <a:rPr lang="en-US" dirty="0"/>
                        <a:t> numbers, Flight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987087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Which route is the most dangerous?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08145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US" dirty="0"/>
                        <a:t>Total aboard, fatalities aboard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Is it possible to survive a plane crash?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238041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US" dirty="0"/>
                        <a:t>Killed on ground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346169"/>
                  </a:ext>
                </a:extLst>
              </a:tr>
              <a:tr h="423303">
                <a:tc>
                  <a:txBody>
                    <a:bodyPr/>
                    <a:lstStyle/>
                    <a:p>
                      <a:r>
                        <a:rPr lang="en-SG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SG" dirty="0"/>
                        <a:t>LP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510197"/>
                  </a:ext>
                </a:extLst>
              </a:tr>
            </a:tbl>
          </a:graphicData>
        </a:graphic>
      </p:graphicFrame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7614AB27-34E3-41EE-8FBC-97D89ED80E8D}"/>
              </a:ext>
            </a:extLst>
          </p:cNvPr>
          <p:cNvSpPr/>
          <p:nvPr/>
        </p:nvSpPr>
        <p:spPr>
          <a:xfrm>
            <a:off x="790216" y="5664874"/>
            <a:ext cx="390514" cy="54857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29DD1C7-2ABE-4597-8E47-249DF60347AA}"/>
              </a:ext>
            </a:extLst>
          </p:cNvPr>
          <p:cNvSpPr/>
          <p:nvPr/>
        </p:nvSpPr>
        <p:spPr>
          <a:xfrm>
            <a:off x="747203" y="6144765"/>
            <a:ext cx="489752" cy="64455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0CD5DA37-ADB4-4B5B-8F33-A08E94756DBB}"/>
              </a:ext>
            </a:extLst>
          </p:cNvPr>
          <p:cNvSpPr/>
          <p:nvPr/>
        </p:nvSpPr>
        <p:spPr>
          <a:xfrm>
            <a:off x="710074" y="4441235"/>
            <a:ext cx="390514" cy="54857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506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8ECDB4D-5A4B-4F41-84A1-876C5CC95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144760"/>
              </p:ext>
            </p:extLst>
          </p:nvPr>
        </p:nvGraphicFramePr>
        <p:xfrm>
          <a:off x="637035" y="1198485"/>
          <a:ext cx="10531074" cy="54305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265537">
                  <a:extLst>
                    <a:ext uri="{9D8B030D-6E8A-4147-A177-3AD203B41FA5}">
                      <a16:colId xmlns:a16="http://schemas.microsoft.com/office/drawing/2014/main" val="1982061052"/>
                    </a:ext>
                  </a:extLst>
                </a:gridCol>
                <a:gridCol w="5265537">
                  <a:extLst>
                    <a:ext uri="{9D8B030D-6E8A-4147-A177-3AD203B41FA5}">
                      <a16:colId xmlns:a16="http://schemas.microsoft.com/office/drawing/2014/main" val="1200325180"/>
                    </a:ext>
                  </a:extLst>
                </a:gridCol>
              </a:tblGrid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% of null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90161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57037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95882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15571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180772"/>
                  </a:ext>
                </a:extLst>
              </a:tr>
              <a:tr h="486144">
                <a:tc>
                  <a:txBody>
                    <a:bodyPr/>
                    <a:lstStyle/>
                    <a:p>
                      <a:r>
                        <a:rPr lang="en-SG" dirty="0"/>
                        <a:t>Aircraft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348280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Reg. &amp; </a:t>
                      </a:r>
                      <a:r>
                        <a:rPr lang="en-US" dirty="0" err="1"/>
                        <a:t>cn</a:t>
                      </a:r>
                      <a:r>
                        <a:rPr lang="en-US" dirty="0"/>
                        <a:t> numbers &amp; Flight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6.36% &amp; 23.3% &amp; 79.7%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987087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32.38%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08145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US" dirty="0"/>
                        <a:t>Total aboard, fatalities aboard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0.418%, 0.228%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238041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US" dirty="0"/>
                        <a:t>Killed on ground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0.418%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346169"/>
                  </a:ext>
                </a:extLst>
              </a:tr>
              <a:tr h="494437">
                <a:tc>
                  <a:txBody>
                    <a:bodyPr/>
                    <a:lstStyle/>
                    <a:p>
                      <a:r>
                        <a:rPr lang="en-SG" dirty="0"/>
                        <a:t>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51019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1D8AAE-9985-4293-9869-49B5BBD22973}"/>
              </a:ext>
            </a:extLst>
          </p:cNvPr>
          <p:cNvCxnSpPr>
            <a:cxnSpLocks/>
          </p:cNvCxnSpPr>
          <p:nvPr/>
        </p:nvCxnSpPr>
        <p:spPr>
          <a:xfrm>
            <a:off x="303321" y="4341180"/>
            <a:ext cx="875338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5C6EED-B527-43D1-A9BE-1548A31DEFE6}"/>
              </a:ext>
            </a:extLst>
          </p:cNvPr>
          <p:cNvCxnSpPr>
            <a:cxnSpLocks/>
          </p:cNvCxnSpPr>
          <p:nvPr/>
        </p:nvCxnSpPr>
        <p:spPr>
          <a:xfrm>
            <a:off x="489752" y="6375646"/>
            <a:ext cx="875338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58F285-B732-4B64-90D9-BD5C7661B2D3}"/>
              </a:ext>
            </a:extLst>
          </p:cNvPr>
          <p:cNvCxnSpPr>
            <a:cxnSpLocks/>
          </p:cNvCxnSpPr>
          <p:nvPr/>
        </p:nvCxnSpPr>
        <p:spPr>
          <a:xfrm>
            <a:off x="489752" y="5853343"/>
            <a:ext cx="875338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6C421B-077A-4607-862D-E042A82D8ED3}"/>
              </a:ext>
            </a:extLst>
          </p:cNvPr>
          <p:cNvCxnSpPr>
            <a:cxnSpLocks/>
          </p:cNvCxnSpPr>
          <p:nvPr/>
        </p:nvCxnSpPr>
        <p:spPr>
          <a:xfrm>
            <a:off x="489752" y="2380694"/>
            <a:ext cx="8753382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A38043-98CB-4417-9133-36CFB70CD693}"/>
              </a:ext>
            </a:extLst>
          </p:cNvPr>
          <p:cNvCxnSpPr>
            <a:cxnSpLocks/>
          </p:cNvCxnSpPr>
          <p:nvPr/>
        </p:nvCxnSpPr>
        <p:spPr>
          <a:xfrm>
            <a:off x="303321" y="4859043"/>
            <a:ext cx="8753382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CE1F0BB8-C1BD-4962-AF34-202C9445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5" y="204186"/>
            <a:ext cx="10556440" cy="563816"/>
          </a:xfrm>
        </p:spPr>
        <p:txBody>
          <a:bodyPr>
            <a:normAutofit fontScale="90000"/>
          </a:bodyPr>
          <a:lstStyle/>
          <a:p>
            <a:r>
              <a:rPr lang="en-SG" dirty="0"/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168180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5">
            <a:extLst>
              <a:ext uri="{FF2B5EF4-FFF2-40B4-BE49-F238E27FC236}">
                <a16:creationId xmlns:a16="http://schemas.microsoft.com/office/drawing/2014/main" id="{728B98ED-F179-4ECF-8E21-4CD95DB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5" y="204186"/>
            <a:ext cx="10556440" cy="563816"/>
          </a:xfrm>
        </p:spPr>
        <p:txBody>
          <a:bodyPr>
            <a:normAutofit fontScale="90000"/>
          </a:bodyPr>
          <a:lstStyle/>
          <a:p>
            <a:r>
              <a:rPr lang="en-SG" dirty="0"/>
              <a:t>Feature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AF77F-A3AD-4CB0-9591-1C20858D7F67}"/>
              </a:ext>
            </a:extLst>
          </p:cNvPr>
          <p:cNvSpPr txBox="1"/>
          <p:nvPr/>
        </p:nvSpPr>
        <p:spPr>
          <a:xfrm>
            <a:off x="1003177" y="1890943"/>
            <a:ext cx="150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Date</a:t>
            </a:r>
          </a:p>
          <a:p>
            <a:r>
              <a:rPr lang="en-SG" dirty="0"/>
              <a:t>1984-07-12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D36682-5542-4714-A15A-53DC2297A662}"/>
              </a:ext>
            </a:extLst>
          </p:cNvPr>
          <p:cNvCxnSpPr/>
          <p:nvPr/>
        </p:nvCxnSpPr>
        <p:spPr>
          <a:xfrm>
            <a:off x="2760955" y="2246050"/>
            <a:ext cx="2388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1D89C25-74A9-47B8-8A5B-E22766C3696F}"/>
              </a:ext>
            </a:extLst>
          </p:cNvPr>
          <p:cNvSpPr txBox="1"/>
          <p:nvPr/>
        </p:nvSpPr>
        <p:spPr>
          <a:xfrm>
            <a:off x="5406503" y="2029442"/>
            <a:ext cx="772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Year</a:t>
            </a:r>
          </a:p>
          <a:p>
            <a:r>
              <a:rPr lang="en-SG" dirty="0"/>
              <a:t>1984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1308D-6EDB-4086-9C3D-E75988F6C7F7}"/>
              </a:ext>
            </a:extLst>
          </p:cNvPr>
          <p:cNvSpPr txBox="1"/>
          <p:nvPr/>
        </p:nvSpPr>
        <p:spPr>
          <a:xfrm>
            <a:off x="6202531" y="2029442"/>
            <a:ext cx="1077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Month</a:t>
            </a:r>
          </a:p>
          <a:p>
            <a:r>
              <a:rPr lang="en-SG" dirty="0"/>
              <a:t>07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9187B5-7079-426A-A612-C26E3016AA1E}"/>
              </a:ext>
            </a:extLst>
          </p:cNvPr>
          <p:cNvSpPr txBox="1"/>
          <p:nvPr/>
        </p:nvSpPr>
        <p:spPr>
          <a:xfrm>
            <a:off x="7153922" y="2034775"/>
            <a:ext cx="132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Day name</a:t>
            </a:r>
          </a:p>
          <a:p>
            <a:r>
              <a:rPr lang="en-SG" dirty="0"/>
              <a:t>Thursday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71C21C-EEC0-44DE-9386-3B7B5A4F5FF8}"/>
              </a:ext>
            </a:extLst>
          </p:cNvPr>
          <p:cNvSpPr txBox="1"/>
          <p:nvPr/>
        </p:nvSpPr>
        <p:spPr>
          <a:xfrm>
            <a:off x="230819" y="3111571"/>
            <a:ext cx="3329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Operator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Military - U.S. Air Force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American Airlines</a:t>
            </a:r>
            <a:endParaRPr lang="en-SG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46511A-213B-4012-8B5C-6616B1C93BD3}"/>
              </a:ext>
            </a:extLst>
          </p:cNvPr>
          <p:cNvCxnSpPr/>
          <p:nvPr/>
        </p:nvCxnSpPr>
        <p:spPr>
          <a:xfrm>
            <a:off x="3126419" y="3660215"/>
            <a:ext cx="2388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9B88BB-6BEE-4DC9-A62F-7C6714C3BCDB}"/>
              </a:ext>
            </a:extLst>
          </p:cNvPr>
          <p:cNvSpPr txBox="1"/>
          <p:nvPr/>
        </p:nvSpPr>
        <p:spPr>
          <a:xfrm>
            <a:off x="5792681" y="3198550"/>
            <a:ext cx="1700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 err="1"/>
              <a:t>IsMilitary</a:t>
            </a:r>
            <a:r>
              <a:rPr lang="en-SG" b="1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76083-6CDA-430C-9F8D-9A09E606A4EF}"/>
              </a:ext>
            </a:extLst>
          </p:cNvPr>
          <p:cNvSpPr txBox="1"/>
          <p:nvPr/>
        </p:nvSpPr>
        <p:spPr>
          <a:xfrm>
            <a:off x="637035" y="4484703"/>
            <a:ext cx="236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Location</a:t>
            </a:r>
          </a:p>
          <a:p>
            <a:r>
              <a:rPr lang="en-SG" dirty="0"/>
              <a:t>San Francisco, California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C01EAB-8035-4BE8-A11F-5ACCE9BAD969}"/>
              </a:ext>
            </a:extLst>
          </p:cNvPr>
          <p:cNvCxnSpPr/>
          <p:nvPr/>
        </p:nvCxnSpPr>
        <p:spPr>
          <a:xfrm>
            <a:off x="2760955" y="4957834"/>
            <a:ext cx="2388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E95A46-AFAE-4B9E-A07D-707CA11C0180}"/>
              </a:ext>
            </a:extLst>
          </p:cNvPr>
          <p:cNvSpPr txBox="1"/>
          <p:nvPr/>
        </p:nvSpPr>
        <p:spPr>
          <a:xfrm>
            <a:off x="5502675" y="4608200"/>
            <a:ext cx="1466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Latitude</a:t>
            </a:r>
          </a:p>
          <a:p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37.779026</a:t>
            </a:r>
            <a:r>
              <a:rPr lang="en-SG" dirty="0"/>
              <a:t>	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B1431A-541B-4391-8DF7-7AE5A3E6B53A}"/>
              </a:ext>
            </a:extLst>
          </p:cNvPr>
          <p:cNvSpPr txBox="1"/>
          <p:nvPr/>
        </p:nvSpPr>
        <p:spPr>
          <a:xfrm>
            <a:off x="6968970" y="4608200"/>
            <a:ext cx="1700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Longitude</a:t>
            </a:r>
          </a:p>
          <a:p>
            <a:r>
              <a:rPr lang="en-SG" dirty="0"/>
              <a:t>-122.419906	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DC3833-8EDB-4623-B129-F208C50DE674}"/>
              </a:ext>
            </a:extLst>
          </p:cNvPr>
          <p:cNvSpPr txBox="1"/>
          <p:nvPr/>
        </p:nvSpPr>
        <p:spPr>
          <a:xfrm>
            <a:off x="2760954" y="4577036"/>
            <a:ext cx="227268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 err="1"/>
              <a:t>geopy.geocoders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068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8" grpId="0"/>
      <p:bldP spid="19" grpId="0"/>
      <p:bldP spid="21" grpId="0"/>
      <p:bldP spid="22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1E170E-1BF2-4C97-B76B-3D108243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914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1" kern="1200" spc="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Visualization 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Eye">
            <a:extLst>
              <a:ext uri="{FF2B5EF4-FFF2-40B4-BE49-F238E27FC236}">
                <a16:creationId xmlns:a16="http://schemas.microsoft.com/office/drawing/2014/main" id="{BDB53F42-E001-4057-A166-305724DAD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01" y="1793908"/>
            <a:ext cx="3491811" cy="3491811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74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7CE3F-FD28-4D2E-97D6-23274AB4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602" y="1218246"/>
            <a:ext cx="3831336" cy="41062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The number of accidents generally increase with the demand in transport on air.</a:t>
            </a:r>
          </a:p>
          <a:p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After year 2000, it gradually drop…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During WWII (1939 to 1945), sharp increase!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1144188-FE31-4E02-9D71-3722C00F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728662"/>
            <a:ext cx="7029450" cy="58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1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6B676-D5D7-429C-9EE6-9B4A5E64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027" y="1447060"/>
            <a:ext cx="3831336" cy="3533623"/>
          </a:xfrm>
        </p:spPr>
        <p:txBody>
          <a:bodyPr>
            <a:normAutofit/>
          </a:bodyPr>
          <a:lstStyle/>
          <a:p>
            <a:r>
              <a:rPr lang="en-SG" dirty="0"/>
              <a:t>Observation: </a:t>
            </a:r>
          </a:p>
          <a:p>
            <a:r>
              <a:rPr lang="en-US" dirty="0"/>
              <a:t>Fatalities rate has improved over the years</a:t>
            </a:r>
          </a:p>
          <a:p>
            <a:endParaRPr lang="en-US" dirty="0"/>
          </a:p>
          <a:p>
            <a:r>
              <a:rPr lang="en-SG" dirty="0"/>
              <a:t>Inference:</a:t>
            </a:r>
            <a:endParaRPr lang="en-US" dirty="0"/>
          </a:p>
          <a:p>
            <a:r>
              <a:rPr lang="en-US" dirty="0"/>
              <a:t>Operators are better at dealing with emergency landing.</a:t>
            </a:r>
            <a:endParaRPr lang="en-SG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AB1D67A-C231-4DFB-A8D8-052C458B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636" y="1619929"/>
            <a:ext cx="6506337" cy="434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50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287C7E-152B-494E-8D7F-F44C82029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5287" y="975360"/>
            <a:ext cx="3831336" cy="1291590"/>
          </a:xfrm>
        </p:spPr>
        <p:txBody>
          <a:bodyPr>
            <a:normAutofit/>
          </a:bodyPr>
          <a:lstStyle/>
          <a:p>
            <a:r>
              <a:rPr lang="en-SG" dirty="0"/>
              <a:t>Observation: </a:t>
            </a:r>
          </a:p>
          <a:p>
            <a:r>
              <a:rPr lang="en-SG" dirty="0"/>
              <a:t>85% of the accidents belong to Commercial Planes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A9DC3A20-B35E-48E6-9E90-D8F9D0A7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656272"/>
            <a:ext cx="6943725" cy="6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2E11285-0C8A-4FFA-9098-999E5E077C4D}"/>
              </a:ext>
            </a:extLst>
          </p:cNvPr>
          <p:cNvSpPr txBox="1">
            <a:spLocks/>
          </p:cNvSpPr>
          <p:nvPr/>
        </p:nvSpPr>
        <p:spPr>
          <a:xfrm>
            <a:off x="395287" y="2461259"/>
            <a:ext cx="3831336" cy="141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Inference:</a:t>
            </a:r>
          </a:p>
          <a:p>
            <a:r>
              <a:rPr lang="en-SG" dirty="0"/>
              <a:t>Military operators are better trained at driving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3BDC747D-5833-4935-890F-9E7449172159}"/>
              </a:ext>
            </a:extLst>
          </p:cNvPr>
          <p:cNvSpPr txBox="1">
            <a:spLocks/>
          </p:cNvSpPr>
          <p:nvPr/>
        </p:nvSpPr>
        <p:spPr>
          <a:xfrm>
            <a:off x="395287" y="3876674"/>
            <a:ext cx="3831336" cy="141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Solution:</a:t>
            </a:r>
          </a:p>
          <a:p>
            <a:r>
              <a:rPr lang="en-SG" dirty="0"/>
              <a:t>More attentions to be paid on Commercial planes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2477E-9671-4F17-A00C-3CD7123B3CB6}"/>
              </a:ext>
            </a:extLst>
          </p:cNvPr>
          <p:cNvSpPr txBox="1"/>
          <p:nvPr/>
        </p:nvSpPr>
        <p:spPr>
          <a:xfrm>
            <a:off x="7061200" y="99814"/>
            <a:ext cx="307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Feature used: </a:t>
            </a:r>
            <a:r>
              <a:rPr lang="en-SG" b="1" dirty="0" err="1"/>
              <a:t>IsMilitary</a:t>
            </a:r>
            <a:r>
              <a:rPr lang="en-SG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5133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9BA8-90CA-451F-B739-0172BD8E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164840"/>
            <a:ext cx="3831336" cy="1719072"/>
          </a:xfrm>
        </p:spPr>
        <p:txBody>
          <a:bodyPr/>
          <a:lstStyle/>
          <a:p>
            <a:r>
              <a:rPr lang="en-US" dirty="0"/>
              <a:t>Aeroflot: </a:t>
            </a:r>
          </a:p>
          <a:p>
            <a:r>
              <a:rPr lang="en-SG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Russian Airlines, founded in 1923</a:t>
            </a:r>
          </a:p>
          <a:p>
            <a:r>
              <a:rPr lang="en-SG" dirty="0">
                <a:solidFill>
                  <a:srgbClr val="4D5156"/>
                </a:solidFill>
                <a:latin typeface="arial" panose="020B0604020202020204" pitchFamily="34" charset="0"/>
              </a:rPr>
              <a:t>U.S. Air Force</a:t>
            </a:r>
            <a:endParaRPr lang="en-SG" b="0" i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endParaRPr lang="en-SG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1C8685-5512-4789-B496-F955F4F1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1892808"/>
          </a:xfrm>
        </p:spPr>
        <p:txBody>
          <a:bodyPr/>
          <a:lstStyle/>
          <a:p>
            <a:r>
              <a:rPr lang="en-US" dirty="0"/>
              <a:t>Worst Operators</a:t>
            </a:r>
            <a:endParaRPr lang="en-S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3CC269-E790-43BB-9896-B2903ED03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506" y="164770"/>
            <a:ext cx="4855542" cy="65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94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09764-3336-4569-B0A2-0640FA62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5383" y="1824227"/>
            <a:ext cx="3831336" cy="2910333"/>
          </a:xfrm>
        </p:spPr>
        <p:txBody>
          <a:bodyPr>
            <a:normAutofit fontScale="92500" lnSpcReduction="10000"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Helvetica Neue"/>
              </a:rPr>
              <a:t>Pilots tend to operate the plane more 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carefully</a:t>
            </a:r>
            <a:r>
              <a:rPr lang="en-US" i="0" dirty="0">
                <a:solidFill>
                  <a:srgbClr val="000000"/>
                </a:solidFill>
                <a:effectLst/>
                <a:latin typeface="Helvetica Neue"/>
              </a:rPr>
              <a:t> when dealing with 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large number </a:t>
            </a:r>
            <a:r>
              <a:rPr lang="en-US" i="0" dirty="0">
                <a:solidFill>
                  <a:srgbClr val="000000"/>
                </a:solidFill>
                <a:effectLst/>
                <a:latin typeface="Helvetica Neue"/>
              </a:rPr>
              <a:t>of passengers</a:t>
            </a:r>
          </a:p>
          <a:p>
            <a:endParaRPr lang="en-US" dirty="0">
              <a:solidFill>
                <a:srgbClr val="000000"/>
              </a:solidFill>
              <a:latin typeface="Helvetica Neue"/>
            </a:endParaRPr>
          </a:p>
          <a:p>
            <a:r>
              <a:rPr lang="en-US" i="0" dirty="0">
                <a:solidFill>
                  <a:srgbClr val="000000"/>
                </a:solidFill>
                <a:effectLst/>
                <a:latin typeface="Helvetica Neue"/>
              </a:rPr>
              <a:t>OR</a:t>
            </a:r>
          </a:p>
          <a:p>
            <a:endParaRPr lang="en-US" i="0" dirty="0">
              <a:solidFill>
                <a:srgbClr val="000000"/>
              </a:solidFill>
              <a:effectLst/>
              <a:latin typeface="Helvetica Neue"/>
            </a:endParaRPr>
          </a:p>
          <a:p>
            <a:r>
              <a:rPr lang="en-US" dirty="0">
                <a:solidFill>
                  <a:srgbClr val="000000"/>
                </a:solidFill>
                <a:latin typeface="Helvetica Neue"/>
              </a:rPr>
              <a:t>Most of the accidents happen during Test Flight</a:t>
            </a:r>
            <a:endParaRPr lang="en-US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en-SG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B5574CF-CFEE-4506-A714-52D07938D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43" y="590550"/>
            <a:ext cx="5797505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F01DC-BCDD-4BE9-9E5F-D08497684700}"/>
              </a:ext>
            </a:extLst>
          </p:cNvPr>
          <p:cNvSpPr txBox="1"/>
          <p:nvPr/>
        </p:nvSpPr>
        <p:spPr>
          <a:xfrm>
            <a:off x="945383" y="1071524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Inference:</a:t>
            </a:r>
          </a:p>
        </p:txBody>
      </p:sp>
    </p:spTree>
    <p:extLst>
      <p:ext uri="{BB962C8B-B14F-4D97-AF65-F5344CB8AC3E}">
        <p14:creationId xmlns:p14="http://schemas.microsoft.com/office/powerpoint/2010/main" val="42086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F80B-A7A7-4F0B-A77C-B92FD4D7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572" y="794384"/>
            <a:ext cx="3831336" cy="409721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The number accidents caused by Douglas DC-3 is off the chart!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DC-3 is the world’s first successful commercial airliner, readily adapted to military use during World War II.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of the accident happen during WWII?</a:t>
            </a:r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EBD84D4-CA74-4A89-9540-29C748948C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78"/>
          <a:stretch/>
        </p:blipFill>
        <p:spPr bwMode="auto">
          <a:xfrm>
            <a:off x="5192713" y="441552"/>
            <a:ext cx="6749557" cy="50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791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D5C9C1-121F-4257-AE9E-F720CF85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768" y="282534"/>
            <a:ext cx="4257675" cy="1045083"/>
          </a:xfrm>
        </p:spPr>
        <p:txBody>
          <a:bodyPr/>
          <a:lstStyle/>
          <a:p>
            <a:r>
              <a:rPr lang="en-SG" dirty="0"/>
              <a:t>Before WWII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4277DB7E-DC2B-4413-849B-627529421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355759" y="1403776"/>
            <a:ext cx="5480482" cy="463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84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07D16C54-EC6B-4CC0-87DD-72864D6061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989557" y="1688359"/>
            <a:ext cx="6039033" cy="382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E5BCF85A-DCE0-463D-8F4C-38203F16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587" y="461166"/>
            <a:ext cx="4257675" cy="1045083"/>
          </a:xfrm>
        </p:spPr>
        <p:txBody>
          <a:bodyPr/>
          <a:lstStyle/>
          <a:p>
            <a:r>
              <a:rPr lang="en-SG" dirty="0"/>
              <a:t>After WWII</a:t>
            </a:r>
          </a:p>
        </p:txBody>
      </p:sp>
    </p:spTree>
    <p:extLst>
      <p:ext uri="{BB962C8B-B14F-4D97-AF65-F5344CB8AC3E}">
        <p14:creationId xmlns:p14="http://schemas.microsoft.com/office/powerpoint/2010/main" val="182773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D8BFFA-3043-44A8-9D47-AC6F3A2B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743" y="1104066"/>
            <a:ext cx="3464109" cy="31463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Clustering Problem!!!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223442-DA67-45F1-90FA-49163A9DB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86673" y="4382814"/>
            <a:ext cx="3457177" cy="1403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/>
              <a:t>We can find out which region is more likely to have accidents!</a:t>
            </a:r>
          </a:p>
        </p:txBody>
      </p:sp>
      <p:pic>
        <p:nvPicPr>
          <p:cNvPr id="6148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3550ADEB-B9DF-4743-9973-43005AAA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203" y="1427915"/>
            <a:ext cx="6329236" cy="403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552FC00-E6D3-45AF-BE3D-036814114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C02A31-7D25-48B5-86D4-DBA02E6DEA0A}"/>
              </a:ext>
            </a:extLst>
          </p:cNvPr>
          <p:cNvSpPr/>
          <p:nvPr/>
        </p:nvSpPr>
        <p:spPr>
          <a:xfrm>
            <a:off x="2388313" y="2201660"/>
            <a:ext cx="887550" cy="8591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7CD8D4-5C32-4FE6-BC99-0897C8DD0691}"/>
              </a:ext>
            </a:extLst>
          </p:cNvPr>
          <p:cNvSpPr/>
          <p:nvPr/>
        </p:nvSpPr>
        <p:spPr>
          <a:xfrm>
            <a:off x="3859084" y="1954565"/>
            <a:ext cx="887550" cy="8591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7240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3D7257-8A71-4904-80F9-217D586DB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6" y="1063256"/>
            <a:ext cx="10355403" cy="15401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9DBFB-C7CD-44F0-A810-25FC35ACF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8495" y="2933390"/>
            <a:ext cx="10788223" cy="2861349"/>
          </a:xfrm>
        </p:spPr>
        <p:txBody>
          <a:bodyPr vert="horz" lIns="91440" tIns="45720" rIns="91440" bIns="45720" rtlCol="0">
            <a:norm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n-US" sz="2800" dirty="0"/>
              <a:t>Unsupervised learning: K-means Clustering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800" dirty="0"/>
              <a:t>Air types with 2443 unique names can be further categories into main groups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800" dirty="0"/>
              <a:t>Analysis on repeated words </a:t>
            </a:r>
            <a:r>
              <a:rPr lang="en-US" sz="2800"/>
              <a:t>on Summary (NLP)</a:t>
            </a:r>
            <a:endParaRPr lang="en-US" sz="2800" dirty="0"/>
          </a:p>
          <a:p>
            <a:pPr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72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90B01B-E7D6-417E-B641-5D2F60CF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C612EDD2-01A4-475D-B5EE-853B29BE09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9669204"/>
              </p:ext>
            </p:extLst>
          </p:nvPr>
        </p:nvGraphicFramePr>
        <p:xfrm>
          <a:off x="5765962" y="972642"/>
          <a:ext cx="5664038" cy="497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7576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4F9613-767C-40D3-A29D-7AE88CF7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182" y="893935"/>
            <a:ext cx="3756670" cy="3339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Questions?</a:t>
            </a:r>
            <a:endParaRPr lang="en-US"/>
          </a:p>
        </p:txBody>
      </p:sp>
      <p:pic>
        <p:nvPicPr>
          <p:cNvPr id="7" name="Picture 6" descr="Question mark on green pastel background">
            <a:extLst>
              <a:ext uri="{FF2B5EF4-FFF2-40B4-BE49-F238E27FC236}">
                <a16:creationId xmlns:a16="http://schemas.microsoft.com/office/drawing/2014/main" id="{7C53583E-AD32-4407-9964-E7A5788414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26"/>
          <a:stretch/>
        </p:blipFill>
        <p:spPr>
          <a:xfrm>
            <a:off x="20" y="10"/>
            <a:ext cx="7102529" cy="6857990"/>
          </a:xfrm>
          <a:prstGeom prst="rect">
            <a:avLst/>
          </a:prstGeom>
        </p:spPr>
      </p:pic>
      <p:sp>
        <p:nvSpPr>
          <p:cNvPr id="17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8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554</Words>
  <Application>Microsoft Office PowerPoint</Application>
  <PresentationFormat>Widescreen</PresentationFormat>
  <Paragraphs>139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Helvetica Neue</vt:lpstr>
      <vt:lpstr>Arial</vt:lpstr>
      <vt:lpstr>Arial</vt:lpstr>
      <vt:lpstr>Avenir Next LT Pro</vt:lpstr>
      <vt:lpstr>Sitka Banner</vt:lpstr>
      <vt:lpstr>HeadlinesVTI</vt:lpstr>
      <vt:lpstr>Plane Crash Analysis</vt:lpstr>
      <vt:lpstr>Content Page</vt:lpstr>
      <vt:lpstr>Context</vt:lpstr>
      <vt:lpstr>Motivation:</vt:lpstr>
      <vt:lpstr>Data Science questions</vt:lpstr>
      <vt:lpstr>Data Cleaning</vt:lpstr>
      <vt:lpstr>Feature Engineering</vt:lpstr>
      <vt:lpstr>Data Visualization </vt:lpstr>
      <vt:lpstr>PowerPoint Presentation</vt:lpstr>
      <vt:lpstr>PowerPoint Presentation</vt:lpstr>
      <vt:lpstr>PowerPoint Presentation</vt:lpstr>
      <vt:lpstr>Worst Operators</vt:lpstr>
      <vt:lpstr>PowerPoint Presentation</vt:lpstr>
      <vt:lpstr>PowerPoint Presentation</vt:lpstr>
      <vt:lpstr>Before WWII</vt:lpstr>
      <vt:lpstr>After WWII</vt:lpstr>
      <vt:lpstr>Clustering Problem!!!</vt:lpstr>
      <vt:lpstr>Future work</vt:lpstr>
      <vt:lpstr>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 Crash Analysis</dc:title>
  <dc:creator>#KOH SHAO MING#</dc:creator>
  <cp:lastModifiedBy>#KOH SHAO MING#</cp:lastModifiedBy>
  <cp:revision>22</cp:revision>
  <dcterms:created xsi:type="dcterms:W3CDTF">2021-10-25T11:28:53Z</dcterms:created>
  <dcterms:modified xsi:type="dcterms:W3CDTF">2021-10-26T01:22:37Z</dcterms:modified>
</cp:coreProperties>
</file>